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7" roundtripDataSignature="AMtx7mjdMhTOn79P5Gd6HsOOyWn8EfEM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customschemas.google.com/relationships/presentationmetadata" Target="metadata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e6d877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e6d877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5e6d877b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dbbd7a62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7dbbd7a62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7dbbd7a62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dbbd7a62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7dbbd7a62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7dbbd7a62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dbbd7a62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7dbbd7a62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7dbbd7a62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dbbd7a6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7dbbd7a6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7dbbd7a6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7dbbd7a62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7dbbd7a62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7dbbd7a62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dbbd7a62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7dbbd7a62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7dbbd7a62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dbbd7a62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7dbbd7a62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7dbbd7a62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dbbd7a62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7dbbd7a62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7dbbd7a62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f977c4936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f977c4936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f977c4936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20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9.png"/><Relationship Id="rId5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22.png"/><Relationship Id="rId5" Type="http://schemas.openxmlformats.org/officeDocument/2006/relationships/image" Target="../media/image48.png"/><Relationship Id="rId6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Relationship Id="rId4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7.png"/><Relationship Id="rId4" Type="http://schemas.openxmlformats.org/officeDocument/2006/relationships/image" Target="../media/image51.png"/><Relationship Id="rId5" Type="http://schemas.openxmlformats.org/officeDocument/2006/relationships/image" Target="../media/image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Relationship Id="rId4" Type="http://schemas.openxmlformats.org/officeDocument/2006/relationships/image" Target="../media/image132.png"/><Relationship Id="rId5" Type="http://schemas.openxmlformats.org/officeDocument/2006/relationships/image" Target="../media/image7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6.png"/><Relationship Id="rId4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0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Relationship Id="rId6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7.png"/><Relationship Id="rId4" Type="http://schemas.openxmlformats.org/officeDocument/2006/relationships/image" Target="../media/image60.png"/><Relationship Id="rId5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1.png"/><Relationship Id="rId4" Type="http://schemas.openxmlformats.org/officeDocument/2006/relationships/image" Target="../media/image68.png"/><Relationship Id="rId5" Type="http://schemas.openxmlformats.org/officeDocument/2006/relationships/image" Target="../media/image8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Relationship Id="rId4" Type="http://schemas.openxmlformats.org/officeDocument/2006/relationships/image" Target="../media/image71.png"/><Relationship Id="rId5" Type="http://schemas.openxmlformats.org/officeDocument/2006/relationships/image" Target="../media/image8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Relationship Id="rId4" Type="http://schemas.openxmlformats.org/officeDocument/2006/relationships/image" Target="../media/image132.png"/><Relationship Id="rId5" Type="http://schemas.openxmlformats.org/officeDocument/2006/relationships/image" Target="../media/image120.png"/><Relationship Id="rId6" Type="http://schemas.openxmlformats.org/officeDocument/2006/relationships/image" Target="../media/image9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6.png"/><Relationship Id="rId4" Type="http://schemas.openxmlformats.org/officeDocument/2006/relationships/image" Target="../media/image39.png"/><Relationship Id="rId5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5.png"/><Relationship Id="rId4" Type="http://schemas.openxmlformats.org/officeDocument/2006/relationships/image" Target="../media/image6.png"/><Relationship Id="rId5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Relationship Id="rId4" Type="http://schemas.openxmlformats.org/officeDocument/2006/relationships/image" Target="../media/image9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Relationship Id="rId4" Type="http://schemas.openxmlformats.org/officeDocument/2006/relationships/image" Target="../media/image63.png"/><Relationship Id="rId5" Type="http://schemas.openxmlformats.org/officeDocument/2006/relationships/image" Target="../media/image83.png"/><Relationship Id="rId6" Type="http://schemas.openxmlformats.org/officeDocument/2006/relationships/image" Target="../media/image10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6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Relationship Id="rId4" Type="http://schemas.openxmlformats.org/officeDocument/2006/relationships/image" Target="../media/image96.png"/><Relationship Id="rId5" Type="http://schemas.openxmlformats.org/officeDocument/2006/relationships/image" Target="../media/image8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94.png"/><Relationship Id="rId5" Type="http://schemas.openxmlformats.org/officeDocument/2006/relationships/image" Target="../media/image11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1.png"/><Relationship Id="rId4" Type="http://schemas.openxmlformats.org/officeDocument/2006/relationships/image" Target="../media/image6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1.png"/><Relationship Id="rId4" Type="http://schemas.openxmlformats.org/officeDocument/2006/relationships/image" Target="../media/image5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8.png"/><Relationship Id="rId4" Type="http://schemas.openxmlformats.org/officeDocument/2006/relationships/image" Target="../media/image103.png"/><Relationship Id="rId5" Type="http://schemas.openxmlformats.org/officeDocument/2006/relationships/image" Target="../media/image1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55.png"/><Relationship Id="rId4" Type="http://schemas.openxmlformats.org/officeDocument/2006/relationships/image" Target="../media/image1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.png"/><Relationship Id="rId4" Type="http://schemas.openxmlformats.org/officeDocument/2006/relationships/image" Target="../media/image83.png"/><Relationship Id="rId5" Type="http://schemas.openxmlformats.org/officeDocument/2006/relationships/image" Target="../media/image5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5.png"/><Relationship Id="rId4" Type="http://schemas.openxmlformats.org/officeDocument/2006/relationships/image" Target="../media/image63.png"/><Relationship Id="rId5" Type="http://schemas.openxmlformats.org/officeDocument/2006/relationships/image" Target="../media/image1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43.png"/><Relationship Id="rId4" Type="http://schemas.openxmlformats.org/officeDocument/2006/relationships/image" Target="../media/image74.png"/><Relationship Id="rId5" Type="http://schemas.openxmlformats.org/officeDocument/2006/relationships/image" Target="../media/image94.png"/><Relationship Id="rId6" Type="http://schemas.openxmlformats.org/officeDocument/2006/relationships/image" Target="../media/image149.png"/><Relationship Id="rId7" Type="http://schemas.openxmlformats.org/officeDocument/2006/relationships/image" Target="../media/image9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2.png"/><Relationship Id="rId4" Type="http://schemas.openxmlformats.org/officeDocument/2006/relationships/image" Target="../media/image83.png"/><Relationship Id="rId5" Type="http://schemas.openxmlformats.org/officeDocument/2006/relationships/image" Target="../media/image6.png"/><Relationship Id="rId6" Type="http://schemas.openxmlformats.org/officeDocument/2006/relationships/image" Target="../media/image10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Relationship Id="rId4" Type="http://schemas.openxmlformats.org/officeDocument/2006/relationships/image" Target="../media/image16.png"/><Relationship Id="rId5" Type="http://schemas.openxmlformats.org/officeDocument/2006/relationships/image" Target="../media/image12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8.png"/><Relationship Id="rId4" Type="http://schemas.openxmlformats.org/officeDocument/2006/relationships/image" Target="../media/image154.png"/><Relationship Id="rId5" Type="http://schemas.openxmlformats.org/officeDocument/2006/relationships/image" Target="../media/image29.png"/><Relationship Id="rId6" Type="http://schemas.openxmlformats.org/officeDocument/2006/relationships/image" Target="../media/image1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0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3.png"/><Relationship Id="rId7" Type="http://schemas.openxmlformats.org/officeDocument/2006/relationships/image" Target="../media/image155.png"/><Relationship Id="rId8" Type="http://schemas.openxmlformats.org/officeDocument/2006/relationships/image" Target="../media/image3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07.png"/><Relationship Id="rId4" Type="http://schemas.openxmlformats.org/officeDocument/2006/relationships/image" Target="../media/image63.png"/><Relationship Id="rId5" Type="http://schemas.openxmlformats.org/officeDocument/2006/relationships/image" Target="../media/image8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46.png"/><Relationship Id="rId4" Type="http://schemas.openxmlformats.org/officeDocument/2006/relationships/image" Target="../media/image145.png"/><Relationship Id="rId5" Type="http://schemas.openxmlformats.org/officeDocument/2006/relationships/image" Target="../media/image76.png"/><Relationship Id="rId6" Type="http://schemas.openxmlformats.org/officeDocument/2006/relationships/image" Target="../media/image10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05156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D7DA"/>
                </a:solidFill>
                <a:latin typeface="Arial"/>
                <a:ea typeface="Arial"/>
                <a:cs typeface="Arial"/>
                <a:sym typeface="Arial"/>
              </a:rPr>
              <a:t>AN END-TO-END TEACHING CURRICULUM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371600"/>
            <a:ext cx="67665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Zomato AI Data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Project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017520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DE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From raw CSVs to an AI-powered warehouse — a complete modern data stack, built on one food-delivery dataset.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886200"/>
            <a:ext cx="439278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40080" y="3886200"/>
            <a:ext cx="43927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07374" y="3886200"/>
            <a:ext cx="1016630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207374" y="3886200"/>
            <a:ext cx="10166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352020" y="3886200"/>
            <a:ext cx="521757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352020" y="3886200"/>
            <a:ext cx="5217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001792" y="3886200"/>
            <a:ext cx="851672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001792" y="3886200"/>
            <a:ext cx="851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81480" y="3886200"/>
            <a:ext cx="769193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981480" y="3886200"/>
            <a:ext cx="76919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78690" y="3886200"/>
            <a:ext cx="769193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878690" y="3886200"/>
            <a:ext cx="76919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75899" y="3886200"/>
            <a:ext cx="1016630" cy="329184"/>
          </a:xfrm>
          <a:prstGeom prst="roundRect">
            <a:avLst>
              <a:gd fmla="val 50000" name="adj"/>
            </a:avLst>
          </a:prstGeom>
          <a:solidFill>
            <a:srgbClr val="C2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775899" y="3886200"/>
            <a:ext cx="10166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D7DA"/>
                </a:solidFill>
                <a:latin typeface="Arial"/>
                <a:ea typeface="Arial"/>
                <a:cs typeface="Arial"/>
                <a:sym typeface="Arial"/>
              </a:rPr>
              <a:t>Batch pipeline · Medallion architecture · LLM enrichment, RAG &amp; text-to-SQL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BEFORE WE 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Prerequisites — you need surprisingly little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2945" y="1216333"/>
            <a:ext cx="3968400" cy="1463100"/>
          </a:xfrm>
          <a:prstGeom prst="roundRect">
            <a:avLst>
              <a:gd fmla="val 437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04113" y="13809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41" y="14906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280185" y="1380925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Basic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22401" y="1947853"/>
            <a:ext cx="3529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SELECT, GROUP BY, JOIN. If you can write a query with a filter and an aggregate, you're ready.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672609" y="1216333"/>
            <a:ext cx="3968400" cy="1463100"/>
          </a:xfrm>
          <a:prstGeom prst="roundRect">
            <a:avLst>
              <a:gd fmla="val 437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873777" y="13809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505" y="14906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5449849" y="1380925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Basic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892065" y="1947853"/>
            <a:ext cx="3529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 a script, read a function. No frameworks, no advanced patterns required.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2920" y="3036220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Cross-cutting tools you'll pick up along the way: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3383692"/>
            <a:ext cx="4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" y="3383692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30198" y="3383692"/>
            <a:ext cx="72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30198" y="3383692"/>
            <a:ext cx="7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982419" y="3383692"/>
            <a:ext cx="117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982419" y="3383692"/>
            <a:ext cx="117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AWS S3 + IAM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84525" y="3383692"/>
            <a:ext cx="94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284525" y="3383692"/>
            <a:ext cx="94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361688" y="3383692"/>
            <a:ext cx="4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361688" y="3383692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dbt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88966" y="3383692"/>
            <a:ext cx="7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988966" y="3383692"/>
            <a:ext cx="7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16168" y="3383692"/>
            <a:ext cx="72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916168" y="3383692"/>
            <a:ext cx="7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768389" y="3383692"/>
            <a:ext cx="1024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768389" y="3383692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OpenAI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3822604"/>
            <a:ext cx="94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02920" y="3822604"/>
            <a:ext cx="94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80083" y="3822604"/>
            <a:ext cx="499200" cy="329100"/>
          </a:xfrm>
          <a:prstGeom prst="roundRect">
            <a:avLst>
              <a:gd fmla="val 50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580083" y="3822604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C2253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" y="235174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&amp; Architecture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f5e6d877b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100" y="191475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f7dbbd7a6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25" y="1575688"/>
            <a:ext cx="2988174" cy="199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f7dbbd7a62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0399" y="152400"/>
            <a:ext cx="2388726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f7dbbd7a62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1550" y="319425"/>
            <a:ext cx="1256275" cy="12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f7dbbd7a62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1425" y="2002613"/>
            <a:ext cx="2168151" cy="11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f7dbbd7a62_0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5068" y="3711350"/>
            <a:ext cx="1000876" cy="8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dbbd7a62_0_191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t/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7dbbd7a62_0_191"/>
          <p:cNvSpPr/>
          <p:nvPr/>
        </p:nvSpPr>
        <p:spPr>
          <a:xfrm>
            <a:off x="1271250" y="2302350"/>
            <a:ext cx="66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</a:rPr>
              <a:t>I NEED AI DATA PIPELINE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dbbd7a62_0_25"/>
          <p:cNvSpPr/>
          <p:nvPr/>
        </p:nvSpPr>
        <p:spPr>
          <a:xfrm>
            <a:off x="502920" y="512064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dataset — a food-delivery business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7dbbd7a62_0_25"/>
          <p:cNvSpPr/>
          <p:nvPr/>
        </p:nvSpPr>
        <p:spPr>
          <a:xfrm>
            <a:off x="502920" y="969264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Familiar domain, real analytical questions: growth, cancellations, delivery speed, customer sentiment.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7dbbd7a62_0_25"/>
          <p:cNvSpPr/>
          <p:nvPr/>
        </p:nvSpPr>
        <p:spPr>
          <a:xfrm>
            <a:off x="502920" y="1508760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7dbbd7a62_0_25"/>
          <p:cNvSpPr/>
          <p:nvPr/>
        </p:nvSpPr>
        <p:spPr>
          <a:xfrm>
            <a:off x="704088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g3f7dbbd7a62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7dbbd7a62_0_25"/>
          <p:cNvSpPr/>
          <p:nvPr/>
        </p:nvSpPr>
        <p:spPr>
          <a:xfrm>
            <a:off x="1280160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7dbbd7a62_0_25"/>
          <p:cNvSpPr/>
          <p:nvPr/>
        </p:nvSpPr>
        <p:spPr>
          <a:xfrm>
            <a:off x="722376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Who orders — city, signup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7dbbd7a62_0_25"/>
          <p:cNvSpPr/>
          <p:nvPr/>
        </p:nvSpPr>
        <p:spPr>
          <a:xfrm>
            <a:off x="3282696" y="1508760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7dbbd7a62_0_25"/>
          <p:cNvSpPr/>
          <p:nvPr/>
        </p:nvSpPr>
        <p:spPr>
          <a:xfrm>
            <a:off x="3483864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g3f7dbbd7a62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7dbbd7a62_0_25"/>
          <p:cNvSpPr/>
          <p:nvPr/>
        </p:nvSpPr>
        <p:spPr>
          <a:xfrm>
            <a:off x="4059936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restaurants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7dbbd7a62_0_25"/>
          <p:cNvSpPr/>
          <p:nvPr/>
        </p:nvSpPr>
        <p:spPr>
          <a:xfrm>
            <a:off x="3502152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Who sells — cuisine, city, rating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7dbbd7a62_0_25"/>
          <p:cNvSpPr/>
          <p:nvPr/>
        </p:nvSpPr>
        <p:spPr>
          <a:xfrm>
            <a:off x="6062472" y="1508760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7dbbd7a62_0_25"/>
          <p:cNvSpPr/>
          <p:nvPr/>
        </p:nvSpPr>
        <p:spPr>
          <a:xfrm>
            <a:off x="6263640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g3f7dbbd7a62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7dbbd7a62_0_25"/>
          <p:cNvSpPr/>
          <p:nvPr/>
        </p:nvSpPr>
        <p:spPr>
          <a:xfrm>
            <a:off x="6839712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menu_items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7dbbd7a62_0_25"/>
          <p:cNvSpPr/>
          <p:nvPr/>
        </p:nvSpPr>
        <p:spPr>
          <a:xfrm>
            <a:off x="6281928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What's sold — item, price, 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7dbbd7a62_0_25"/>
          <p:cNvSpPr/>
          <p:nvPr/>
        </p:nvSpPr>
        <p:spPr>
          <a:xfrm>
            <a:off x="502920" y="3300984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7dbbd7a62_0_25"/>
          <p:cNvSpPr/>
          <p:nvPr/>
        </p:nvSpPr>
        <p:spPr>
          <a:xfrm>
            <a:off x="704088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g3f7dbbd7a62_0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7dbbd7a62_0_25"/>
          <p:cNvSpPr/>
          <p:nvPr/>
        </p:nvSpPr>
        <p:spPr>
          <a:xfrm>
            <a:off x="1280160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7dbbd7a62_0_25"/>
          <p:cNvSpPr/>
          <p:nvPr/>
        </p:nvSpPr>
        <p:spPr>
          <a:xfrm>
            <a:off x="722376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core fact — status, amounts, times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7dbbd7a62_0_25"/>
          <p:cNvSpPr/>
          <p:nvPr/>
        </p:nvSpPr>
        <p:spPr>
          <a:xfrm>
            <a:off x="3282696" y="3300984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7dbbd7a62_0_25"/>
          <p:cNvSpPr/>
          <p:nvPr/>
        </p:nvSpPr>
        <p:spPr>
          <a:xfrm>
            <a:off x="3483864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g3f7dbbd7a62_0_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3592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7dbbd7a62_0_25"/>
          <p:cNvSpPr/>
          <p:nvPr/>
        </p:nvSpPr>
        <p:spPr>
          <a:xfrm>
            <a:off x="4059936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order_items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7dbbd7a62_0_25"/>
          <p:cNvSpPr/>
          <p:nvPr/>
        </p:nvSpPr>
        <p:spPr>
          <a:xfrm>
            <a:off x="3502152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Line items — order × menu item × qty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7dbbd7a62_0_25"/>
          <p:cNvSpPr/>
          <p:nvPr/>
        </p:nvSpPr>
        <p:spPr>
          <a:xfrm>
            <a:off x="6062472" y="3300984"/>
            <a:ext cx="2578500" cy="1591200"/>
          </a:xfrm>
          <a:prstGeom prst="roundRect">
            <a:avLst>
              <a:gd fmla="val 402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7dbbd7a62_0_25"/>
          <p:cNvSpPr/>
          <p:nvPr/>
        </p:nvSpPr>
        <p:spPr>
          <a:xfrm>
            <a:off x="6263640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g3f7dbbd7a62_0_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3368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7dbbd7a62_0_25"/>
          <p:cNvSpPr/>
          <p:nvPr/>
        </p:nvSpPr>
        <p:spPr>
          <a:xfrm>
            <a:off x="6839712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7dbbd7a62_0_25"/>
          <p:cNvSpPr/>
          <p:nvPr/>
        </p:nvSpPr>
        <p:spPr>
          <a:xfrm>
            <a:off x="6281928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Free-text comments + ratings (AI fuel)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f7dbbd7a62_0_62"/>
          <p:cNvPicPr preferRelativeResize="0"/>
          <p:nvPr/>
        </p:nvPicPr>
        <p:blipFill rotWithShape="1">
          <a:blip r:embed="rId3">
            <a:alphaModFix/>
          </a:blip>
          <a:srcRect b="7210" l="6780" r="-6780" t="-7210"/>
          <a:stretch/>
        </p:blipFill>
        <p:spPr>
          <a:xfrm>
            <a:off x="152400" y="93975"/>
            <a:ext cx="8701376" cy="489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volume — why this needs a warehouse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02920" y="15544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0292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10M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6751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orders — the core fact 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291840" y="15544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32918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23M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45643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order line items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6080760" y="15544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608076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300K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24535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free-text reviews (the AI fuel)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7dbbd7a62_0_66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t/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7dbbd7a62_0_66"/>
          <p:cNvSpPr/>
          <p:nvPr/>
        </p:nvSpPr>
        <p:spPr>
          <a:xfrm>
            <a:off x="2531400" y="2290900"/>
            <a:ext cx="408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</a:rPr>
              <a:t>Load Data To S3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dbbd7a62_0_130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7dbbd7a62_0_130"/>
          <p:cNvSpPr/>
          <p:nvPr/>
        </p:nvSpPr>
        <p:spPr>
          <a:xfrm>
            <a:off x="457200" y="4892040"/>
            <a:ext cx="3657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 Masterclass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7dbbd7a62_0_130"/>
          <p:cNvSpPr/>
          <p:nvPr/>
        </p:nvSpPr>
        <p:spPr>
          <a:xfrm>
            <a:off x="8229600" y="4892040"/>
            <a:ext cx="457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7dbbd7a62_0_13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Amazon S3 — Core Concepts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7dbbd7a62_0_130"/>
          <p:cNvSpPr/>
          <p:nvPr/>
        </p:nvSpPr>
        <p:spPr>
          <a:xfrm>
            <a:off x="457200" y="1097280"/>
            <a:ext cx="5029200" cy="210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7dbbd7a62_0_130"/>
          <p:cNvSpPr/>
          <p:nvPr/>
        </p:nvSpPr>
        <p:spPr>
          <a:xfrm>
            <a:off x="457200" y="1097280"/>
            <a:ext cx="54900" cy="2103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7dbbd7a62_0_130"/>
          <p:cNvSpPr/>
          <p:nvPr/>
        </p:nvSpPr>
        <p:spPr>
          <a:xfrm>
            <a:off x="731520" y="123444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Object storage with 99.999999999% (11 9s) durability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Store unlimited data — objects up to 5 TB each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Buckets are region-specific, names are globally unique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Key-value store: key = object name, value = data + metadata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7dbbd7a62_0_130"/>
          <p:cNvSpPr/>
          <p:nvPr/>
        </p:nvSpPr>
        <p:spPr>
          <a:xfrm>
            <a:off x="5760720" y="109728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7dbbd7a62_0_130"/>
          <p:cNvSpPr/>
          <p:nvPr/>
        </p:nvSpPr>
        <p:spPr>
          <a:xfrm>
            <a:off x="5852160" y="117043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7dbbd7a62_0_130"/>
          <p:cNvSpPr/>
          <p:nvPr/>
        </p:nvSpPr>
        <p:spPr>
          <a:xfrm>
            <a:off x="585216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Keep multiple variants of objects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7dbbd7a62_0_130"/>
          <p:cNvSpPr/>
          <p:nvPr/>
        </p:nvSpPr>
        <p:spPr>
          <a:xfrm>
            <a:off x="7406640" y="109728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7dbbd7a62_0_130"/>
          <p:cNvSpPr/>
          <p:nvPr/>
        </p:nvSpPr>
        <p:spPr>
          <a:xfrm>
            <a:off x="7498080" y="117043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Encryption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7dbbd7a62_0_130"/>
          <p:cNvSpPr/>
          <p:nvPr/>
        </p:nvSpPr>
        <p:spPr>
          <a:xfrm>
            <a:off x="749808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SSE-S3, SSE-KMS, SSE-C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7dbbd7a62_0_130"/>
          <p:cNvSpPr/>
          <p:nvPr/>
        </p:nvSpPr>
        <p:spPr>
          <a:xfrm>
            <a:off x="5760720" y="219456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7dbbd7a62_0_130"/>
          <p:cNvSpPr/>
          <p:nvPr/>
        </p:nvSpPr>
        <p:spPr>
          <a:xfrm>
            <a:off x="5852160" y="22677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Lifecycle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7dbbd7a62_0_130"/>
          <p:cNvSpPr/>
          <p:nvPr/>
        </p:nvSpPr>
        <p:spPr>
          <a:xfrm>
            <a:off x="585216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Auto-transition between storage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7dbbd7a62_0_130"/>
          <p:cNvSpPr/>
          <p:nvPr/>
        </p:nvSpPr>
        <p:spPr>
          <a:xfrm>
            <a:off x="7406640" y="219456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7dbbd7a62_0_130"/>
          <p:cNvSpPr/>
          <p:nvPr/>
        </p:nvSpPr>
        <p:spPr>
          <a:xfrm>
            <a:off x="7498080" y="22677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Replication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7dbbd7a62_0_130"/>
          <p:cNvSpPr/>
          <p:nvPr/>
        </p:nvSpPr>
        <p:spPr>
          <a:xfrm>
            <a:off x="749808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Cross-region or same-region replication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7dbbd7a62_0_130"/>
          <p:cNvSpPr/>
          <p:nvPr/>
        </p:nvSpPr>
        <p:spPr>
          <a:xfrm>
            <a:off x="457200" y="338328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S3 Storage Classes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7dbbd7a62_0_130"/>
          <p:cNvSpPr/>
          <p:nvPr/>
        </p:nvSpPr>
        <p:spPr>
          <a:xfrm>
            <a:off x="457200" y="3840480"/>
            <a:ext cx="1280100" cy="822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7dbbd7a62_0_130"/>
          <p:cNvSpPr/>
          <p:nvPr/>
        </p:nvSpPr>
        <p:spPr>
          <a:xfrm>
            <a:off x="457200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7dbbd7a62_0_130"/>
          <p:cNvSpPr/>
          <p:nvPr/>
        </p:nvSpPr>
        <p:spPr>
          <a:xfrm>
            <a:off x="457200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Frequently accessed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7dbbd7a62_0_130"/>
          <p:cNvSpPr/>
          <p:nvPr/>
        </p:nvSpPr>
        <p:spPr>
          <a:xfrm>
            <a:off x="1847088" y="3840480"/>
            <a:ext cx="1280100" cy="822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dbbd7a62_0_130"/>
          <p:cNvSpPr/>
          <p:nvPr/>
        </p:nvSpPr>
        <p:spPr>
          <a:xfrm>
            <a:off x="1847088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7dbbd7a62_0_130"/>
          <p:cNvSpPr/>
          <p:nvPr/>
        </p:nvSpPr>
        <p:spPr>
          <a:xfrm>
            <a:off x="1847088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Infrequent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7dbbd7a62_0_130"/>
          <p:cNvSpPr/>
          <p:nvPr/>
        </p:nvSpPr>
        <p:spPr>
          <a:xfrm>
            <a:off x="3236976" y="3840480"/>
            <a:ext cx="1280100" cy="822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7dbbd7a62_0_130"/>
          <p:cNvSpPr/>
          <p:nvPr/>
        </p:nvSpPr>
        <p:spPr>
          <a:xfrm>
            <a:off x="3236976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One Zone-IA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7dbbd7a62_0_130"/>
          <p:cNvSpPr/>
          <p:nvPr/>
        </p:nvSpPr>
        <p:spPr>
          <a:xfrm>
            <a:off x="3236976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Single AZ, lower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7dbbd7a62_0_130"/>
          <p:cNvSpPr/>
          <p:nvPr/>
        </p:nvSpPr>
        <p:spPr>
          <a:xfrm>
            <a:off x="4626864" y="3840480"/>
            <a:ext cx="1280100" cy="822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7dbbd7a62_0_130"/>
          <p:cNvSpPr/>
          <p:nvPr/>
        </p:nvSpPr>
        <p:spPr>
          <a:xfrm>
            <a:off x="4626864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Glacier Instant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7dbbd7a62_0_130"/>
          <p:cNvSpPr/>
          <p:nvPr/>
        </p:nvSpPr>
        <p:spPr>
          <a:xfrm>
            <a:off x="4626864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Archive, ms 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7dbbd7a62_0_130"/>
          <p:cNvSpPr/>
          <p:nvPr/>
        </p:nvSpPr>
        <p:spPr>
          <a:xfrm>
            <a:off x="6016752" y="3840480"/>
            <a:ext cx="1280100" cy="8229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7dbbd7a62_0_130"/>
          <p:cNvSpPr/>
          <p:nvPr/>
        </p:nvSpPr>
        <p:spPr>
          <a:xfrm>
            <a:off x="6016752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Glacier Deep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7dbbd7a62_0_130"/>
          <p:cNvSpPr/>
          <p:nvPr/>
        </p:nvSpPr>
        <p:spPr>
          <a:xfrm>
            <a:off x="6016752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Lowest cost archive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7dbbd7a62_0_130"/>
          <p:cNvSpPr/>
          <p:nvPr/>
        </p:nvSpPr>
        <p:spPr>
          <a:xfrm>
            <a:off x="7406640" y="3840480"/>
            <a:ext cx="1280100" cy="822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7dbbd7a62_0_130"/>
          <p:cNvSpPr/>
          <p:nvPr/>
        </p:nvSpPr>
        <p:spPr>
          <a:xfrm>
            <a:off x="7406640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Intelligent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7dbbd7a62_0_130"/>
          <p:cNvSpPr/>
          <p:nvPr/>
        </p:nvSpPr>
        <p:spPr>
          <a:xfrm>
            <a:off x="7406640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Auto-tiering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f7dbbd7a62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6900" y="224470"/>
            <a:ext cx="552774" cy="55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S3 mechanics: buckets &amp; prefixes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1280160" y="130759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Bucket = top-level container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Globally unique name, lives in one region. Ours holds the whole lake.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1280160" y="249631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Prefixes look like folders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S3 is actually flat — “raw/orders/” is just part of the key — but tools display it as folders. Organize by dataset.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02920" y="37216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58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1280160" y="368503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Uploading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Console drag-and-drop for a few files; aws s3 cp / sync from the CLI for millions of rows.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394960" y="1325880"/>
            <a:ext cx="3246120" cy="329184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the lake layout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623560" y="1764792"/>
            <a:ext cx="2834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zomato-data/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raw/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orders/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  orders_0001.csv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  orders_0002.csv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reviews/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  reviews_0001.csv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$ aws s3 sync ./out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  s3://zomato-data/raw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ETL vs ELT — where does the T happen?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02920" y="1325880"/>
            <a:ext cx="3968496" cy="2514600"/>
          </a:xfrm>
          <a:prstGeom prst="roundRect">
            <a:avLst>
              <a:gd fmla="val 254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31520" y="1481328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ETL  ·  the old 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31520" y="1783080"/>
            <a:ext cx="35112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Extract → Transform →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31520" y="2121408"/>
            <a:ext cx="3511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Transform on a separate server before loading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Warehouse compute was scarce &amp; expensive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Rigid: changing logic means re-extracting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72584" y="1325880"/>
            <a:ext cx="3968496" cy="2514600"/>
          </a:xfrm>
          <a:prstGeom prst="roundRect">
            <a:avLst>
              <a:gd fmla="val 2545" name="adj"/>
            </a:avLst>
          </a:prstGeom>
          <a:solidFill>
            <a:srgbClr val="FDEDEE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901184" y="1481328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ELT  ·  what we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901184" y="1783080"/>
            <a:ext cx="35112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Extract → Load → Transform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901184" y="2121408"/>
            <a:ext cx="3511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Load raw first; transform inside the warehouse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Cloud compute is elastic and cheap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Keep raw forever — re-transform anytime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02920" y="4114800"/>
            <a:ext cx="8138160" cy="548640"/>
          </a:xfrm>
          <a:prstGeom prst="roundRect">
            <a:avLst>
              <a:gd fmla="val 1166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In this project: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COPY INTO lands raw CSVs in Snowflake; dbt does every transformation in the warehouse.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Batch vs streaming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2920" y="1417320"/>
            <a:ext cx="3968496" cy="1691640"/>
          </a:xfrm>
          <a:prstGeom prst="roundRect">
            <a:avLst>
              <a:gd fmla="val 378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04088" y="15819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91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/>
          <p:nvPr/>
        </p:nvSpPr>
        <p:spPr>
          <a:xfrm>
            <a:off x="1280160" y="158191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Batch — what we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22376" y="2148840"/>
            <a:ext cx="35295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Process data in scheduled chunks (hourly, daily). Simpler, cheaper, and what most analytics actually needs. Airflow triggers each run.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672584" y="1417320"/>
            <a:ext cx="3968496" cy="1691640"/>
          </a:xfrm>
          <a:prstGeom prst="roundRect">
            <a:avLst>
              <a:gd fmla="val 378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873752" y="15819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91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5449824" y="158191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Streaming — the future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892040" y="2148840"/>
            <a:ext cx="352958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Process events continuously, seconds after they happen. Kafka + Spark + Iceberg territory — a sequel project once batch fundamentals are solid.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Medallion Architecture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Each layer is rebuildable from the one before it — raw data is never thrown away.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920" y="1645920"/>
            <a:ext cx="2377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444752" y="1810512"/>
            <a:ext cx="493776" cy="493776"/>
          </a:xfrm>
          <a:prstGeom prst="ellipse">
            <a:avLst/>
          </a:prstGeom>
          <a:solidFill>
            <a:srgbClr val="C085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62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RAW  (Bronze)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8521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Data exactly as it landed from the lake. Untouched, append-only. Schema: 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862072" y="2455164"/>
            <a:ext cx="539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383280" y="1645920"/>
            <a:ext cx="2377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325112" y="1810512"/>
            <a:ext cx="493776" cy="493776"/>
          </a:xfrm>
          <a:prstGeom prst="ellipse">
            <a:avLst/>
          </a:prstGeom>
          <a:solidFill>
            <a:srgbClr val="8E9A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342900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STAGING  (Silver)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46557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Cleaned, typed, renamed. One staging model per source table. Schema: STAGING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742432" y="2455164"/>
            <a:ext cx="539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63640" y="1645920"/>
            <a:ext cx="23774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7205472" y="1810512"/>
            <a:ext cx="493776" cy="493776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434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630936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MARTS  (Gold)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34593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Business-ready dimensions, facts and aggregates. What BI and AI consume. Schema: MARTS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fmla="val 1272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Why layers?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Debuggability (trace any number back to raw) and safety (bad transform ≠ lost data).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C2253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40080" y="20459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</a:rPr>
              <a:t>The Cloud Data Warehouse (Snowflake)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t/>
            </a:r>
            <a:endParaRPr b="1" sz="2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IAM in five minutes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Users &amp; access keys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 IAM user is a programmatic identity; its access key + secret let scripts and Snowflake talk to AWS as that user.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Least privilege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Grant only what's needed: read access to this one bucket — not AdministratorAccess. Small blast radius when keys leak.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Two rules that save careers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Never use root account keys. Never commit keys to Git — environment variables only (a theme we'll repeat).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dbbd7a62_0_182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t/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7dbbd7a62_0_182"/>
          <p:cNvSpPr/>
          <p:nvPr/>
        </p:nvSpPr>
        <p:spPr>
          <a:xfrm>
            <a:off x="1548300" y="2290900"/>
            <a:ext cx="604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</a:rPr>
              <a:t>Load Data To Snowflake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RBAC — why dbt doesn't run as admin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Privileges → roles → users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Grant USAGE / SELECT / CREATE to a role; grant the role to a user. Change the role once, every user of it follows.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dedicated DBT_ROLE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dbt connects as a service user with DBT_ROLE: full rights on the ZOMATO database, nothing else. Automation never runs as ACCOUNTADMIN.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bother in a course project?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Because it's free to do right, and least-privilege muscle memory is exactly what employers expect from a data engineer.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What a cloud data warehouse is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Built for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Columnar storage and massive parallel scans: aggregate 10M rows in seconds. The opposite trade-off from an app database.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Storage and compute are separate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Snowflake's core idea: data is stored once; independent compute clusters (“warehouses”) spin up, query it, and shut down.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Pay per second of compute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 X-Small warehouse with auto-suspend costs almost nothing when idle. Scale up for a big load, back down after.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Loading data: stage → file format → COPY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02920" y="1371600"/>
            <a:ext cx="24079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45999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6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/>
          <p:nvPr/>
        </p:nvSpPr>
        <p:spPr>
          <a:xfrm>
            <a:off x="54864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58521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Named pointer to the S3 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2892552" y="18150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3368040" y="1371600"/>
            <a:ext cx="24079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432511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5"/>
          <p:cNvSpPr/>
          <p:nvPr/>
        </p:nvSpPr>
        <p:spPr>
          <a:xfrm>
            <a:off x="341376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File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345033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How to parse: CSV, delimiter, header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5757672" y="18150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6233160" y="1371600"/>
            <a:ext cx="24079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719023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10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/>
          <p:nvPr/>
        </p:nvSpPr>
        <p:spPr>
          <a:xfrm>
            <a:off x="627888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COPY INTO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631545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Parallel bulk load into a raw 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02920" y="2880360"/>
            <a:ext cx="8138160" cy="1920240"/>
          </a:xfrm>
          <a:prstGeom prst="roundRect">
            <a:avLst>
              <a:gd fmla="val 3333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731520" y="3026664"/>
            <a:ext cx="772668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CREATE STAGE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zomato_stage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STORAGE_INTEGRATION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= s3_int 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= 's3://zomato-data/raw/'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CREATE FILE FORMAT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csv_fmt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='CSV'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SKIP_HEADER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=1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FIELD_OPTIONALLY_ENCLOSED_BY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='"'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COPY INTO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raw.orders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FROM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@zomato_stage/orders/  </a:t>
            </a:r>
            <a:r>
              <a:rPr b="0" i="0" lang="en-US" sz="10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FILE_FORMAT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= (FORMAT_NAME='csv_fmt');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Loading messy files without losing data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5" name="Google Shape;3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7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SKIP_HEADER =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first line is column names, not data. Forget it and your table gains a row of strings.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7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7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ON_ERROR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ABORT_STATEMENT = strict (fail the load). CONTINUE = tolerant (skip bad rows, keep going). Know which you're choosing.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7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Column-count mismatch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Ragged rows kill loads. ERROR_ON_COLUMN_COUNT_MISMATCH=FALSE lets them land for later inspection.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7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philosophy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Land data tolerantly in RAW as text; enforce types and quality downstream in dbt, where failures are visible and testable.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3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640080" y="23817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</a:rPr>
              <a:t>Transformation with dbt</a:t>
            </a:r>
            <a:endParaRPr b="1" sz="2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What dbt is — and why everyone uses it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 SELECTs become managed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You write a SELECT; dbt wraps it in the right CREATE statement, runs it in Snowflake in dependency order, and tracks what depends on what.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0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Software practices for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Version control, code review, automated tests, generated docs — applied to SQL. This job title is “analytics engineering.”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0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stores nothing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It's a compiler + orchestrator for SQL. All data and all compute stay in Snowflake — dbt just tells it what to build, in what order.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Project setup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1"/>
          <p:cNvSpPr/>
          <p:nvPr/>
        </p:nvSpPr>
        <p:spPr>
          <a:xfrm>
            <a:off x="1280160" y="130759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init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Scaffolds the project: models/, snapshots/, tests/, dbt_project.yml.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02920" y="23957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5" name="Google Shape;4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5328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1"/>
          <p:cNvSpPr/>
          <p:nvPr/>
        </p:nvSpPr>
        <p:spPr>
          <a:xfrm>
            <a:off x="1280160" y="235915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Two config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dbt_project.yml = the project (name, folders, defaults). profiles.yml = the connection (account, user, role DBT_ROLE, warehouse).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502920" y="34472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5844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1"/>
          <p:cNvSpPr/>
          <p:nvPr/>
        </p:nvSpPr>
        <p:spPr>
          <a:xfrm>
            <a:off x="1280160" y="341071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debug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One command that validates config + connection before you build anything. Run it first, always.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5394960" y="1325880"/>
            <a:ext cx="3246120" cy="2286000"/>
          </a:xfrm>
          <a:prstGeom prst="roundRect">
            <a:avLst>
              <a:gd fmla="val 2800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1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dbt_project.yml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5623560" y="1764792"/>
            <a:ext cx="2834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'zomato'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profile: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'zomato'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models: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zomato: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staging: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+materialized: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502920" y="4434840"/>
            <a:ext cx="8138160" cy="502920"/>
          </a:xfrm>
          <a:prstGeom prst="roundRect">
            <a:avLst>
              <a:gd fmla="val 1272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Gotcha: </a:t>
            </a:r>
            <a:r>
              <a:rPr b="0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the key under models: must exactly match name: — mismatch means your folder configs silently don't apply.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Sources — declaring where raw data lives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_sources.yml names the raw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Declare ZOMATO.RAW's tables once; models refer to them as source('zomato', 'orders').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not hardcode names?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Sources make lineage start at raw, survive renames in one place, and enable source freshness checks later.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5394960" y="1325880"/>
            <a:ext cx="324612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models/staging/_sources.yml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5623560" y="1764792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sources: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- name: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zomato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database: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ZOMATO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schema: 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RAW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tables: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    - name: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model is just a SELECT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3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One .sql file = one model = one table/view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No CREATE TABLE boilerplate — dbt adds it. The file name becomes the object name in Snowflake.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3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Compiles the Jinja, figures out order, executes in Snowflake. Rerun anytime; it rebuilds cleanly.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394960" y="1325880"/>
            <a:ext cx="324612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models/staging/stg_orders.sql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5623560" y="1764792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order_id,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user_id,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order_status,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total_amount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source(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'zomato','orders'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ref() builds the DAG for you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4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Depend on models with ref()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select … from {{ ref('stg_orders') }} — never a hardcoded table name between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5" name="Google Shape;4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infers the run order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From source() and ref() calls, dbt assembles the dependency graph (DAG) and runs upstream models first — parallelizing where it can.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5486400" y="146304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5486400" y="146304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5F5F6A"/>
                </a:solidFill>
                <a:latin typeface="Courier New"/>
                <a:ea typeface="Courier New"/>
                <a:cs typeface="Courier New"/>
                <a:sym typeface="Courier New"/>
              </a:rPr>
              <a:t>raw.orders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548640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5486400" y="228600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5486400" y="22860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Courier New"/>
                <a:ea typeface="Courier New"/>
                <a:cs typeface="Courier New"/>
                <a:sym typeface="Courier New"/>
              </a:rPr>
              <a:t>stg_orders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5486400" y="2743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5486400" y="310896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5486400" y="310896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A31E29"/>
                </a:solidFill>
                <a:latin typeface="Courier New"/>
                <a:ea typeface="Courier New"/>
                <a:cs typeface="Courier New"/>
                <a:sym typeface="Courier New"/>
              </a:rPr>
              <a:t>fct_orders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5486400" y="35661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5486400" y="3931920"/>
            <a:ext cx="2377440" cy="475488"/>
          </a:xfrm>
          <a:prstGeom prst="roundRect">
            <a:avLst>
              <a:gd fmla="val 15385" name="adj"/>
            </a:avLst>
          </a:prstGeom>
          <a:solidFill>
            <a:srgbClr val="E23744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5486400" y="393192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mart_daily_gmv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Materializations — how a model becomes real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Set per folder in dbt_project.yml or per model with {{ config(materialized='…') }} — our first taste of Jinja.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502920" y="1600200"/>
            <a:ext cx="2578608" cy="1965960"/>
          </a:xfrm>
          <a:prstGeom prst="roundRect">
            <a:avLst>
              <a:gd fmla="val 3256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704088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7" name="Google Shape;5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/>
          <p:nvPr/>
        </p:nvSpPr>
        <p:spPr>
          <a:xfrm>
            <a:off x="1280160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view  (default)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722376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Stores only the query. Always fresh, zero storage — but recomputed on every read. Fine for staging.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3282696" y="1600200"/>
            <a:ext cx="2578608" cy="1965960"/>
          </a:xfrm>
          <a:prstGeom prst="roundRect">
            <a:avLst>
              <a:gd fmla="val 3256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5"/>
          <p:cNvSpPr/>
          <p:nvPr/>
        </p:nvSpPr>
        <p:spPr>
          <a:xfrm>
            <a:off x="3483864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2" name="Google Shape;51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5"/>
          <p:cNvSpPr/>
          <p:nvPr/>
        </p:nvSpPr>
        <p:spPr>
          <a:xfrm>
            <a:off x="4059936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3502152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Physically built each dbt run. Fast to query; costs a full rebuild. Good for marts.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6062472" y="1600200"/>
            <a:ext cx="2578608" cy="1965960"/>
          </a:xfrm>
          <a:prstGeom prst="roundRect">
            <a:avLst>
              <a:gd fmla="val 3256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5"/>
          <p:cNvSpPr/>
          <p:nvPr/>
        </p:nvSpPr>
        <p:spPr>
          <a:xfrm>
            <a:off x="6263640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5"/>
          <p:cNvSpPr/>
          <p:nvPr/>
        </p:nvSpPr>
        <p:spPr>
          <a:xfrm>
            <a:off x="6839712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incremental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6281928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Only processes new rows and merges them in. The answer for 10M-row facts — full slide coming 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502920" y="3977640"/>
            <a:ext cx="8138160" cy="502920"/>
          </a:xfrm>
          <a:prstGeom prst="roundRect">
            <a:avLst>
              <a:gd fmla="val 1272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5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Rule of thumb: view until it's slow, table until it's big, incremental when rebuilds hurt.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Silver layer: cleaning in SQL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9" name="Google Shape;5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6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RAW is all text — Silver makes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Cast safely with try_to_number / try_to_decimal: garbage becomes NULL instead of a crashed query.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6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Standardize strings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nullif('','') for fake empties, initcap/lower for casing, regexp_substr to dig values out of messy text, coalesce for defaults.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stg_orders.sql (excerpt)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try_to_decimal(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total_amount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,10,2)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total_amount,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lower(</a:t>
            </a:r>
            <a:r>
              <a:rPr b="0" i="0" lang="en-US" sz="9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nullif(</a:t>
            </a: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status,''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order_status,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initcap(trim(city))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city,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regexp_substr(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phone,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'[0-9]+'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as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phone_digits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Dimensional modeling — the star schema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7"/>
          <p:cNvSpPr/>
          <p:nvPr/>
        </p:nvSpPr>
        <p:spPr>
          <a:xfrm>
            <a:off x="1280160" y="1353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Facts: events + measures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fct_orders — one row per order, with amounts and timestamps.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7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7" name="Google Shape;54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/>
          <p:nvPr/>
        </p:nvSpPr>
        <p:spPr>
          <a:xfrm>
            <a:off x="1280160" y="2496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Dimensions: the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Who, where, what, when. Derived attributes via CASE (spend bands, delivery-time buckets).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502920" y="3675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13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7"/>
          <p:cNvSpPr/>
          <p:nvPr/>
        </p:nvSpPr>
        <p:spPr>
          <a:xfrm>
            <a:off x="1280160" y="3639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a star?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Predictable joins, fast aggregates, and BI tools understand it instantly.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7"/>
          <p:cNvCxnSpPr/>
          <p:nvPr/>
        </p:nvCxnSpPr>
        <p:spPr>
          <a:xfrm>
            <a:off x="5623560" y="1728216"/>
            <a:ext cx="914400" cy="1252728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37"/>
          <p:cNvCxnSpPr/>
          <p:nvPr/>
        </p:nvCxnSpPr>
        <p:spPr>
          <a:xfrm flipH="1" rot="10800000">
            <a:off x="6537960" y="1728216"/>
            <a:ext cx="1280160" cy="1252728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37"/>
          <p:cNvCxnSpPr/>
          <p:nvPr/>
        </p:nvCxnSpPr>
        <p:spPr>
          <a:xfrm flipH="1" rot="10800000">
            <a:off x="5623560" y="2980944"/>
            <a:ext cx="914400" cy="1216152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37"/>
          <p:cNvCxnSpPr/>
          <p:nvPr/>
        </p:nvCxnSpPr>
        <p:spPr>
          <a:xfrm>
            <a:off x="6537960" y="2980944"/>
            <a:ext cx="1280160" cy="1216152"/>
          </a:xfrm>
          <a:prstGeom prst="straightConnector1">
            <a:avLst/>
          </a:prstGeom>
          <a:noFill/>
          <a:ln cap="flat" cmpd="sng" w="12700">
            <a:solidFill>
              <a:srgbClr val="9A9A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37"/>
          <p:cNvSpPr/>
          <p:nvPr/>
        </p:nvSpPr>
        <p:spPr>
          <a:xfrm>
            <a:off x="4892040" y="150876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4892040" y="15087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7086600" y="150876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7"/>
          <p:cNvSpPr/>
          <p:nvPr/>
        </p:nvSpPr>
        <p:spPr>
          <a:xfrm>
            <a:off x="7086600" y="15087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dim_restaurants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892040" y="397764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7"/>
          <p:cNvSpPr/>
          <p:nvPr/>
        </p:nvSpPr>
        <p:spPr>
          <a:xfrm>
            <a:off x="4892040" y="39776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dim_menu_items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7086600" y="3977640"/>
            <a:ext cx="1463040" cy="438912"/>
          </a:xfrm>
          <a:prstGeom prst="roundRect">
            <a:avLst>
              <a:gd fmla="val 16667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"/>
          <p:cNvSpPr/>
          <p:nvPr/>
        </p:nvSpPr>
        <p:spPr>
          <a:xfrm>
            <a:off x="7086600" y="39776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6262E"/>
                </a:solidFill>
                <a:latin typeface="Courier New"/>
                <a:ea typeface="Courier New"/>
                <a:cs typeface="Courier New"/>
                <a:sym typeface="Courier New"/>
              </a:rPr>
              <a:t>dim_date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5943600" y="2697480"/>
            <a:ext cx="1188720" cy="566928"/>
          </a:xfrm>
          <a:prstGeom prst="roundRect">
            <a:avLst>
              <a:gd fmla="val 12903" name="adj"/>
            </a:avLst>
          </a:prstGeom>
          <a:solidFill>
            <a:srgbClr val="E23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7"/>
          <p:cNvSpPr/>
          <p:nvPr/>
        </p:nvSpPr>
        <p:spPr>
          <a:xfrm>
            <a:off x="5943600" y="269748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fct_orders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date spine — a calendar built from nothing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8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8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problem: missing days vanish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GROUP BY order_date skips days with zero orders — charts silently lie. You need one row per calendar day, orders or not.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6" name="Google Shape;57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8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generator + seq4()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 can fabricate rows from thin air. Generate N sequential numbers, add each to a start date — instant calendar dimension.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8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dim_date.sql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dateadd(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'day',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seq4()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   '2023-01-01'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)::date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as date_day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table(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generator(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  rowcount =&gt; 1096))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Incremental models — stop rebuilding 10M rows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8" name="Google Shape;5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9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Process only what's new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First run builds the full table. Every run after: select rows newer than what {{ this }} already has, and MERGE them in via unique_key.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9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1" name="Google Shape;59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9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Escape hatch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Logic changed? dbt run --full-refresh rebuilds from scratch. Incremental is an optimization, never a trap.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9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fct_orders.sql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9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config(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materialized=</a:t>
            </a: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'incremental'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unique_key=</a:t>
            </a: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'order_id'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 ... from 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ref(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  'stg_orders') 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{% if is_incremental() %}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ordered_at &gt; 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select max(ordered_at)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  from </a:t>
            </a: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{{ this }}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{% endif %}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Gold layer: marts &amp; aggregations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1"/>
          <p:cNvSpPr/>
          <p:nvPr/>
        </p:nvSpPr>
        <p:spPr>
          <a:xfrm>
            <a:off x="502920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1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4" name="Google Shape;6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1"/>
          <p:cNvSpPr/>
          <p:nvPr/>
        </p:nvSpPr>
        <p:spPr>
          <a:xfrm>
            <a:off x="1280160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Revenue marts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1"/>
          <p:cNvSpPr/>
          <p:nvPr/>
        </p:nvSpPr>
        <p:spPr>
          <a:xfrm>
            <a:off x="722376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Daily GMV &amp; AOV per city/cuisine. Snowflake helpers: count_if, iff, div0 (no divide-by-zero crashes).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4672584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1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9" name="Google Shape;60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1"/>
          <p:cNvSpPr/>
          <p:nvPr/>
        </p:nvSpPr>
        <p:spPr>
          <a:xfrm>
            <a:off x="5449824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Delivery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1"/>
          <p:cNvSpPr/>
          <p:nvPr/>
        </p:nvSpPr>
        <p:spPr>
          <a:xfrm>
            <a:off x="4892040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datediff for durations; median &amp; percentile_cont for honest SLAs — averages hide the pain.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502920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1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1"/>
          <p:cNvSpPr/>
          <p:nvPr/>
        </p:nvSpPr>
        <p:spPr>
          <a:xfrm>
            <a:off x="1280160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Cancellations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722376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Cancel rate by city, hour, restaurant — count_if(status='cancelled') / count(*), safely with div0.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4672584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1"/>
          <p:cNvSpPr/>
          <p:nvPr/>
        </p:nvSpPr>
        <p:spPr>
          <a:xfrm>
            <a:off x="4873752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9" name="Google Shape;61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1"/>
          <p:cNvSpPr/>
          <p:nvPr/>
        </p:nvSpPr>
        <p:spPr>
          <a:xfrm>
            <a:off x="5449824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Cohorts &amp; retention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1"/>
          <p:cNvSpPr/>
          <p:nvPr/>
        </p:nvSpPr>
        <p:spPr>
          <a:xfrm>
            <a:off x="4892040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Group users by signup month, track who reorders. Stacked CTEs keep the logic readable.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Data quality — tests that run in the warehouse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2"/>
          <p:cNvSpPr/>
          <p:nvPr/>
        </p:nvSpPr>
        <p:spPr>
          <a:xfrm>
            <a:off x="502920" y="1325880"/>
            <a:ext cx="3968496" cy="2880360"/>
          </a:xfrm>
          <a:prstGeom prst="roundRect">
            <a:avLst>
              <a:gd fmla="val 2222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2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Generic tests — one YAML line each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2"/>
          <p:cNvSpPr/>
          <p:nvPr/>
        </p:nvSpPr>
        <p:spPr>
          <a:xfrm>
            <a:off x="731520" y="182880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unique — no duplicate order_ids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not_null — keys always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relationships — every FK exists in its dim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accepted_values — status ∈ known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4672584" y="1325880"/>
            <a:ext cx="3968496" cy="2880360"/>
          </a:xfrm>
          <a:prstGeom prst="roundRect">
            <a:avLst>
              <a:gd fmla="val 2222" name="adj"/>
            </a:avLst>
          </a:prstGeom>
          <a:solidFill>
            <a:srgbClr val="FDEDEE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2"/>
          <p:cNvSpPr/>
          <p:nvPr/>
        </p:nvSpPr>
        <p:spPr>
          <a:xfrm>
            <a:off x="4901184" y="1481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Singular tests — custom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2"/>
          <p:cNvSpPr/>
          <p:nvPr/>
        </p:nvSpPr>
        <p:spPr>
          <a:xfrm>
            <a:off x="4901184" y="182880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Any business rule you can write as a query that must return zero rows: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“No order may have a delivered_at earlier than ordered_at.”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“GMV per day must never be negative.”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2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fmla="val 14000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dbt test runs them all against real warehouse data — a quality gate on every pipeline run.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build &amp; the free documentation site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3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3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build = run + test + snapshot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One command, DAG order, fail fast: if a staging test fails, downstream marts never build on bad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3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3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 docs generate &amp;&amp; dbt docs serve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 searchable website of every model, column and test — generated from code you already wrote.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3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9" name="Google Shape;64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3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lineage graph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DAG rendered visually: click any model, see everything upstream and downstream. The single best explain-your-pipeline tool you'll own.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Tags &amp; selection — running slices of the DAG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8" name="Google Shape;6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Tag models by concern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AI-dependent models get tags: ['ai'] in their config; core models stay untagged.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1" name="Google Shape;66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Select what to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dbt build --select tag:ai (just the AI slice) · --exclude tag:ai (everything else) · stg_orders+ (a model and all its children).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this matters soon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will run core and AI as separate tasks — dbt_build_core excludes the AI tag, dbt_build_ai selects it. Selection makes that split possible.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4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5"/>
          <p:cNvSpPr/>
          <p:nvPr/>
        </p:nvSpPr>
        <p:spPr>
          <a:xfrm>
            <a:off x="640080" y="245002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Orchestration with Airflow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cron isn't enough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0" name="Google Shape;68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6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Scheduling with dependencies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“Run dbt only after the load succeeds” — cron can't express order; an orchestrator's whole job is the arrows between steps.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3" name="Google Shape;68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6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Retries &amp; alerting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Networks blip, APIs time out. Airflow retries with backoff and tells you when something is truly broken.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6" name="Google Shape;68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6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History &amp; observability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Every run, every task, every log, forever. “Did Tuesday's load run? Why is the mart stale?” — answered in one UI.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Airflow in four concepts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7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7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6" name="Google Shape;69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7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7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whole workflow: tasks + dependencies, defined in a Python file, with a schedule.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7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7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1" name="Google Shape;70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7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One unit of work — load this table, run dbt, call the enrichment script.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7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7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6" name="Google Shape;70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7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7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task template: SQLExecuteQueryOperator, BashOperator, PythonOperator. You configure, it executes.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7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1" name="Google Shape;71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7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engine that watches the clock, resolves t1 &gt;&gt; t2 dependencies, and fires tasks. The web UI shows it 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Running Airflow locally with Docker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1" name="Google Shape;7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8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docker compose 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is several services (scheduler, webserver, metadata DB). One compose file starts them all, wired together, on your laptop.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8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4" name="Google Shape;72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8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custom Dockerfile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We extend the official image to add our dependencies — the standard pattern for real deployments too.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7" name="Google Shape;72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8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Volumes mount your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local dags/ folder is mounted into the containers: edit a DAG file, refresh the UI, it's live. No rebuild loop.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Connections &amp; the two operators we 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6" name="Google Shape;73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9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Connections: creds by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 account, user, role stored once in Airflow as snowflake_default. DAG code references the ID — no secrets in Python files.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9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9" name="Google Shape;73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9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SQLExecuteQueryOperator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Runs SQL against Snowflake through the connection — our COPY INTO reload lives here.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9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2" name="Google Shape;74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9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BashOperator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Runs shell commands — how Airflow invokes dbt build (and the enrichment script's CLI).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Keeping dbt out of Airflow's dependencies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0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1" name="Google Shape;75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0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conflict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and dbt disagree on shared Python libraries. Install both in one environment and pip's resolver eventually loses.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0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4" name="Google Shape;75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0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fix: a venv inside the image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Dockerfile builds a dedicated virtualenv just for dbt. Airflow never imports dbt — it just shells out to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0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Dockerfile (excerpt)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apache/airflow:2.9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RUN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python -m venv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/opt/dbt_venv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RUN </a:t>
            </a: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/opt/dbt_venv/bin/pip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  install dbt-snowflake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# BashOperator calls: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# /opt/dbt_venv/bin/dbt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Our DAG — four tasks, one story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1"/>
          <p:cNvSpPr/>
          <p:nvPr/>
        </p:nvSpPr>
        <p:spPr>
          <a:xfrm>
            <a:off x="502920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1"/>
          <p:cNvSpPr/>
          <p:nvPr/>
        </p:nvSpPr>
        <p:spPr>
          <a:xfrm>
            <a:off x="1129284" y="171907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7" name="Google Shape;7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8156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1"/>
          <p:cNvSpPr/>
          <p:nvPr/>
        </p:nvSpPr>
        <p:spPr>
          <a:xfrm>
            <a:off x="548640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reload_raw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1"/>
          <p:cNvSpPr/>
          <p:nvPr/>
        </p:nvSpPr>
        <p:spPr>
          <a:xfrm>
            <a:off x="585216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COPY INTO refreshes RAW from S3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1"/>
          <p:cNvSpPr/>
          <p:nvPr/>
        </p:nvSpPr>
        <p:spPr>
          <a:xfrm>
            <a:off x="2231136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2633472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/>
          <p:nvPr/>
        </p:nvSpPr>
        <p:spPr>
          <a:xfrm>
            <a:off x="3259836" y="171907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3" name="Google Shape;7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708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1"/>
          <p:cNvSpPr/>
          <p:nvPr/>
        </p:nvSpPr>
        <p:spPr>
          <a:xfrm>
            <a:off x="2679192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dbt_build_core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1"/>
          <p:cNvSpPr/>
          <p:nvPr/>
        </p:nvSpPr>
        <p:spPr>
          <a:xfrm>
            <a:off x="2715768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build + test everything except tag:ai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/>
          <p:nvPr/>
        </p:nvSpPr>
        <p:spPr>
          <a:xfrm>
            <a:off x="4361688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1"/>
          <p:cNvSpPr/>
          <p:nvPr/>
        </p:nvSpPr>
        <p:spPr>
          <a:xfrm>
            <a:off x="4764024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1"/>
          <p:cNvSpPr/>
          <p:nvPr/>
        </p:nvSpPr>
        <p:spPr>
          <a:xfrm>
            <a:off x="5390388" y="17190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9" name="Google Shape;77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9260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1"/>
          <p:cNvSpPr/>
          <p:nvPr/>
        </p:nvSpPr>
        <p:spPr>
          <a:xfrm>
            <a:off x="4809744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enrich_reviews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4846320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LLM adds sentiment + topic (new rows only)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6492240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1"/>
          <p:cNvSpPr/>
          <p:nvPr/>
        </p:nvSpPr>
        <p:spPr>
          <a:xfrm>
            <a:off x="6894576" y="1554480"/>
            <a:ext cx="1746504" cy="1600200"/>
          </a:xfrm>
          <a:prstGeom prst="roundRect">
            <a:avLst>
              <a:gd fmla="val 4571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1"/>
          <p:cNvSpPr/>
          <p:nvPr/>
        </p:nvSpPr>
        <p:spPr>
          <a:xfrm>
            <a:off x="7520940" y="17190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5" name="Google Shape;78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9812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51"/>
          <p:cNvSpPr/>
          <p:nvPr/>
        </p:nvSpPr>
        <p:spPr>
          <a:xfrm>
            <a:off x="6940296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dbt_build_ai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1"/>
          <p:cNvSpPr/>
          <p:nvPr/>
        </p:nvSpPr>
        <p:spPr>
          <a:xfrm>
            <a:off x="6976872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build tag:ai marts on enriched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502920" y="3794760"/>
            <a:ext cx="8138160" cy="548640"/>
          </a:xfrm>
          <a:prstGeom prst="roundRect">
            <a:avLst>
              <a:gd fmla="val 1166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1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Read it aloud: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refresh raw → build the core warehouse → let the LLM enrich → build the AI marts. The whole project in one 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Idempotency — the property that lets you sleep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7" name="Google Shape;79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Running a task twice produces the same result as once: no duplicate rows, no double-billed API calls.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0" name="Google Shape;80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5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How we achieve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Incremental models MERGE on keys · enrichment processes only rows NOT already enriched · loads are deterministic.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3" name="Google Shape;80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5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Airflow will retry failures — that's the feature. Retries are only safe when every task is idempotent. Non-idempotent + auto-retry = data corruption on a schedule.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3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5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3"/>
          <p:cNvSpPr/>
          <p:nvPr/>
        </p:nvSpPr>
        <p:spPr>
          <a:xfrm>
            <a:off x="640080" y="20459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AI Layer (OpenAI)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Why AI belongs in a data pipeline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9" name="Google Shape;81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Classic DE handles structured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Numbers, categories, timestamps — everything so far. But huge value hides in free text: reviews, tickets, chats.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2" name="Google Shape;82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5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 can't understand meaning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SELECT can count reviews; it cannot tell you a review is an angry complaint about late delivery. That gap is exactly what LLMs close.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5" name="Google Shape;82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5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AI Data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Plugs an LLM into the pipeline as just another transformation, and builds apps on top of the warehouse. Not an ML researcher — an engineer with one new tool.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What we'll build — three AI capabilities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502920" y="1463040"/>
            <a:ext cx="2578608" cy="2103120"/>
          </a:xfrm>
          <a:prstGeom prst="roundRect">
            <a:avLst>
              <a:gd fmla="val 304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5"/>
          <p:cNvSpPr/>
          <p:nvPr/>
        </p:nvSpPr>
        <p:spPr>
          <a:xfrm>
            <a:off x="704088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5" name="Google Shape;83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55"/>
          <p:cNvSpPr/>
          <p:nvPr/>
        </p:nvSpPr>
        <p:spPr>
          <a:xfrm>
            <a:off x="1280160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①  Enrichment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5"/>
          <p:cNvSpPr/>
          <p:nvPr/>
        </p:nvSpPr>
        <p:spPr>
          <a:xfrm>
            <a:off x="722376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LLM reads every review and writes sentiment + topic columns back to Snowflake. Feelings become queryable.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5"/>
          <p:cNvSpPr/>
          <p:nvPr/>
        </p:nvSpPr>
        <p:spPr>
          <a:xfrm>
            <a:off x="3282696" y="1463040"/>
            <a:ext cx="2578608" cy="2103120"/>
          </a:xfrm>
          <a:prstGeom prst="roundRect">
            <a:avLst>
              <a:gd fmla="val 304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5"/>
          <p:cNvSpPr/>
          <p:nvPr/>
        </p:nvSpPr>
        <p:spPr>
          <a:xfrm>
            <a:off x="3483864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0" name="Google Shape;84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5"/>
          <p:cNvSpPr/>
          <p:nvPr/>
        </p:nvSpPr>
        <p:spPr>
          <a:xfrm>
            <a:off x="4059936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②  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5"/>
          <p:cNvSpPr/>
          <p:nvPr/>
        </p:nvSpPr>
        <p:spPr>
          <a:xfrm>
            <a:off x="3502152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“Chat with your reviews” — semantic search finds the relevant ones, the LLM answers only from those.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5"/>
          <p:cNvSpPr/>
          <p:nvPr/>
        </p:nvSpPr>
        <p:spPr>
          <a:xfrm>
            <a:off x="6062472" y="1463040"/>
            <a:ext cx="2578608" cy="2103120"/>
          </a:xfrm>
          <a:prstGeom prst="roundRect">
            <a:avLst>
              <a:gd fmla="val 304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5"/>
          <p:cNvSpPr/>
          <p:nvPr/>
        </p:nvSpPr>
        <p:spPr>
          <a:xfrm>
            <a:off x="6263640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5" name="Google Shape;845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55"/>
          <p:cNvSpPr/>
          <p:nvPr/>
        </p:nvSpPr>
        <p:spPr>
          <a:xfrm>
            <a:off x="6839712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③  Text-to-SQL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5"/>
          <p:cNvSpPr/>
          <p:nvPr/>
        </p:nvSpPr>
        <p:spPr>
          <a:xfrm>
            <a:off x="6281928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“Chat with your warehouse” — plain English in, real Snowflake SQL out, run safely, answer back.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Where LLMs sit in the AI universe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6"/>
          <p:cNvSpPr/>
          <p:nvPr/>
        </p:nvSpPr>
        <p:spPr>
          <a:xfrm>
            <a:off x="502920" y="14356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5" name="Google Shape;85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72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6"/>
          <p:cNvSpPr/>
          <p:nvPr/>
        </p:nvSpPr>
        <p:spPr>
          <a:xfrm>
            <a:off x="1280160" y="1399032"/>
            <a:ext cx="35204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model = learned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Patterns learned from data that map input → output. Nobody hand-writes the rules — that's the whole point.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6"/>
          <p:cNvSpPr/>
          <p:nvPr/>
        </p:nvSpPr>
        <p:spPr>
          <a:xfrm>
            <a:off x="502920" y="28072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8" name="Google Shape;85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944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56"/>
          <p:cNvSpPr/>
          <p:nvPr/>
        </p:nvSpPr>
        <p:spPr>
          <a:xfrm>
            <a:off x="1280160" y="2770632"/>
            <a:ext cx="352044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Each ring specializes the last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 is the goal; ML learns from data; deep learning uses neural networks; LLMs are deep learning applied to language.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6"/>
          <p:cNvSpPr/>
          <p:nvPr/>
        </p:nvSpPr>
        <p:spPr>
          <a:xfrm>
            <a:off x="5029200" y="1325880"/>
            <a:ext cx="3383280" cy="3383280"/>
          </a:xfrm>
          <a:prstGeom prst="ellipse">
            <a:avLst/>
          </a:prstGeom>
          <a:solidFill>
            <a:srgbClr val="FDEDEE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6"/>
          <p:cNvSpPr/>
          <p:nvPr/>
        </p:nvSpPr>
        <p:spPr>
          <a:xfrm>
            <a:off x="5422392" y="1719072"/>
            <a:ext cx="2596896" cy="2596896"/>
          </a:xfrm>
          <a:prstGeom prst="ellipse">
            <a:avLst/>
          </a:prstGeom>
          <a:solidFill>
            <a:srgbClr val="FADCDF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6"/>
          <p:cNvSpPr/>
          <p:nvPr/>
        </p:nvSpPr>
        <p:spPr>
          <a:xfrm>
            <a:off x="5806440" y="2103120"/>
            <a:ext cx="1828800" cy="1828800"/>
          </a:xfrm>
          <a:prstGeom prst="ellipse">
            <a:avLst/>
          </a:prstGeom>
          <a:solidFill>
            <a:srgbClr val="F3B9BF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6"/>
          <p:cNvSpPr/>
          <p:nvPr/>
        </p:nvSpPr>
        <p:spPr>
          <a:xfrm>
            <a:off x="6190488" y="2487168"/>
            <a:ext cx="1060704" cy="1060704"/>
          </a:xfrm>
          <a:prstGeom prst="ellipse">
            <a:avLst/>
          </a:prstGeom>
          <a:solidFill>
            <a:srgbClr val="E23744"/>
          </a:solidFill>
          <a:ln cap="flat" cmpd="sng" w="9525">
            <a:solidFill>
              <a:srgbClr val="F6D2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6"/>
          <p:cNvSpPr/>
          <p:nvPr/>
        </p:nvSpPr>
        <p:spPr>
          <a:xfrm>
            <a:off x="6190488" y="2788920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5806440" y="21305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6"/>
          <p:cNvSpPr/>
          <p:nvPr/>
        </p:nvSpPr>
        <p:spPr>
          <a:xfrm>
            <a:off x="5422392" y="1737360"/>
            <a:ext cx="2596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5029200" y="13441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An LLM predicts the next token. That's it.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7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5" name="Google Shape;87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7"/>
          <p:cNvSpPr/>
          <p:nvPr/>
        </p:nvSpPr>
        <p:spPr>
          <a:xfrm>
            <a:off x="1280160" y="1353312"/>
            <a:ext cx="7360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Trained on massive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 Large Language Model has read a huge slice of the internet with one training objective: given text so far, predict what comes next.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7"/>
          <p:cNvSpPr/>
          <p:nvPr/>
        </p:nvSpPr>
        <p:spPr>
          <a:xfrm>
            <a:off x="502920" y="24414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8" name="Google Shape;87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5786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/>
          <p:nvPr/>
        </p:nvSpPr>
        <p:spPr>
          <a:xfrm>
            <a:off x="1280160" y="2404872"/>
            <a:ext cx="73609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One objective, many skills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Predicting next tokens well enough forces the model to absorb grammar, facts and reasoning — so it can summarize, classify, translate and write.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7"/>
          <p:cNvSpPr/>
          <p:nvPr/>
        </p:nvSpPr>
        <p:spPr>
          <a:xfrm>
            <a:off x="502920" y="3566160"/>
            <a:ext cx="8138160" cy="1097280"/>
          </a:xfrm>
          <a:prstGeom prst="roundRect">
            <a:avLst>
              <a:gd fmla="val 5833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7"/>
          <p:cNvSpPr/>
          <p:nvPr/>
        </p:nvSpPr>
        <p:spPr>
          <a:xfrm>
            <a:off x="777240" y="3566160"/>
            <a:ext cx="7589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“The biryani arrived cold and the rider was 40 minutes </a:t>
            </a:r>
            <a:r>
              <a:rPr b="1" i="0" lang="en-US" sz="120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___”</a:t>
            </a:r>
            <a:r>
              <a:rPr b="0" i="0" lang="en-US" sz="120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   →     </a:t>
            </a:r>
            <a:r>
              <a:rPr b="1" i="0" lang="en-US" sz="12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late</a:t>
            </a:r>
            <a:r>
              <a:rPr b="0" i="0" lang="en-US" sz="120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(p=0.92)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g3f977c4936b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210575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21055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money slide — read before running anything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61"/>
          <p:cNvSpPr/>
          <p:nvPr/>
        </p:nvSpPr>
        <p:spPr>
          <a:xfrm>
            <a:off x="502920" y="14173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1"/>
          <p:cNvSpPr/>
          <p:nvPr/>
        </p:nvSpPr>
        <p:spPr>
          <a:xfrm>
            <a:off x="50292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≈ ¾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1"/>
          <p:cNvSpPr/>
          <p:nvPr/>
        </p:nvSpPr>
        <p:spPr>
          <a:xfrm>
            <a:off x="66751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of a word = one token. Models read &amp; write tokens, and you pay per token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1"/>
          <p:cNvSpPr/>
          <p:nvPr/>
        </p:nvSpPr>
        <p:spPr>
          <a:xfrm>
            <a:off x="3291840" y="14173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1"/>
          <p:cNvSpPr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in + 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1"/>
          <p:cNvSpPr/>
          <p:nvPr/>
        </p:nvSpPr>
        <p:spPr>
          <a:xfrm>
            <a:off x="345643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you pay for input tokens AND output tokens, at different 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6080760" y="1417320"/>
            <a:ext cx="2560320" cy="1691640"/>
          </a:xfrm>
          <a:prstGeom prst="roundRect">
            <a:avLst>
              <a:gd fmla="val 43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1"/>
          <p:cNvSpPr/>
          <p:nvPr/>
        </p:nvSpPr>
        <p:spPr>
          <a:xfrm>
            <a:off x="608076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~$7-9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624535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ballpark to enrich all 300K reviews with gpt-4o-mini (~45M input tokens)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61"/>
          <p:cNvSpPr/>
          <p:nvPr/>
        </p:nvSpPr>
        <p:spPr>
          <a:xfrm>
            <a:off x="502920" y="3520440"/>
            <a:ext cx="8138160" cy="548640"/>
          </a:xfrm>
          <a:prstGeom prst="roundRect">
            <a:avLst>
              <a:gd fmla="val 11667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1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Our two defenses: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SAMPLE_N caps how many reviews each run processes, and idempotency guarantees no review is ever paid for twice.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context window — the model's field of view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8" name="Google Shape;91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6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hard limit on what 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context window is the maximum tokens a model can see at once — prompt + data + its own reply, all inside one budget.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1" name="Google Shape;92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6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So you can't dump a table into a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300K reviews are millions of tokens; no window holds that. “Just paste everything” is not a strategy.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4" name="Google Shape;924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Remember this limitation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It's exactly why RAG exists: retrieve only the few most relevant pieces and put those in the window. We'll build it in 6.7.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Making LLM output usable as data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3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3" name="Google Shape;93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63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Problem: LLMs reply in prose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“This customer seems quite unhappy about…” — charming, unparseable. A pipeline needs columns.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3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6" name="Google Shape;93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63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Fix: demand JSON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response_format={type:'json_object'} + a system prompt that names the exact fields. The reply parses straight into table columns — reliable, testable.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3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fmla="val 1972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3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every reply, guaranteed 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63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"sentiment":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"negative"</a:t>
            </a:r>
            <a:r>
              <a:rPr b="0" i="0" lang="en-US" sz="95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CC3F5"/>
                </a:solidFill>
                <a:latin typeface="Courier New"/>
                <a:ea typeface="Courier New"/>
                <a:cs typeface="Courier New"/>
                <a:sym typeface="Courier New"/>
              </a:rPr>
              <a:t>  "topic":</a:t>
            </a:r>
            <a:r>
              <a:rPr b="0" i="0" lang="en-US" sz="95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 "delivery"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2C87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sentiment ∈ positive |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negative | neutral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topic ∈ delivery | food |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8E99"/>
                </a:solidFill>
                <a:latin typeface="Courier New"/>
                <a:ea typeface="Courier New"/>
                <a:cs typeface="Courier New"/>
                <a:sym typeface="Courier New"/>
              </a:rPr>
              <a:t>  price | app |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LLM enrichment — a normal ELT step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64"/>
          <p:cNvSpPr/>
          <p:nvPr/>
        </p:nvSpPr>
        <p:spPr>
          <a:xfrm>
            <a:off x="502920" y="1417320"/>
            <a:ext cx="24079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4"/>
          <p:cNvSpPr/>
          <p:nvPr/>
        </p:nvSpPr>
        <p:spPr>
          <a:xfrm>
            <a:off x="145999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9" name="Google Shape;94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6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64"/>
          <p:cNvSpPr/>
          <p:nvPr/>
        </p:nvSpPr>
        <p:spPr>
          <a:xfrm>
            <a:off x="54864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4"/>
          <p:cNvSpPr/>
          <p:nvPr/>
        </p:nvSpPr>
        <p:spPr>
          <a:xfrm>
            <a:off x="58521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un-enriched reviews from Snowflake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4"/>
          <p:cNvSpPr/>
          <p:nvPr/>
        </p:nvSpPr>
        <p:spPr>
          <a:xfrm>
            <a:off x="2892552" y="19293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64"/>
          <p:cNvSpPr/>
          <p:nvPr/>
        </p:nvSpPr>
        <p:spPr>
          <a:xfrm>
            <a:off x="3368040" y="1417320"/>
            <a:ext cx="2407920" cy="1371600"/>
          </a:xfrm>
          <a:prstGeom prst="roundRect">
            <a:avLst>
              <a:gd fmla="val 5333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4"/>
          <p:cNvSpPr/>
          <p:nvPr/>
        </p:nvSpPr>
        <p:spPr>
          <a:xfrm>
            <a:off x="432511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5" name="Google Shape;95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64"/>
          <p:cNvSpPr/>
          <p:nvPr/>
        </p:nvSpPr>
        <p:spPr>
          <a:xfrm>
            <a:off x="341376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4"/>
          <p:cNvSpPr/>
          <p:nvPr/>
        </p:nvSpPr>
        <p:spPr>
          <a:xfrm>
            <a:off x="345033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gpt-4o-mini classifies each comment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4"/>
          <p:cNvSpPr/>
          <p:nvPr/>
        </p:nvSpPr>
        <p:spPr>
          <a:xfrm>
            <a:off x="5757672" y="19293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4"/>
          <p:cNvSpPr/>
          <p:nvPr/>
        </p:nvSpPr>
        <p:spPr>
          <a:xfrm>
            <a:off x="6233160" y="1417320"/>
            <a:ext cx="24079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4"/>
          <p:cNvSpPr/>
          <p:nvPr/>
        </p:nvSpPr>
        <p:spPr>
          <a:xfrm>
            <a:off x="719023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1" name="Google Shape;961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10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64"/>
          <p:cNvSpPr/>
          <p:nvPr/>
        </p:nvSpPr>
        <p:spPr>
          <a:xfrm>
            <a:off x="627888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4"/>
          <p:cNvSpPr/>
          <p:nvPr/>
        </p:nvSpPr>
        <p:spPr>
          <a:xfrm>
            <a:off x="631545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sentiment + topic rows into AI.REVIEW_ENRICHED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502920" y="3794760"/>
            <a:ext cx="8138160" cy="1051560"/>
          </a:xfrm>
          <a:prstGeom prst="roundRect">
            <a:avLst>
              <a:gd fmla="val 6087" name="adj"/>
            </a:avLst>
          </a:prstGeom>
          <a:solidFill>
            <a:srgbClr val="232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4"/>
          <p:cNvSpPr/>
          <p:nvPr/>
        </p:nvSpPr>
        <p:spPr>
          <a:xfrm>
            <a:off x="731520" y="3941064"/>
            <a:ext cx="772668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city, topic, count(*)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mart_review_insights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sentiment = </a:t>
            </a:r>
            <a:r>
              <a:rPr b="0" i="0" lang="en-US" sz="1000" u="none" cap="none" strike="noStrike">
                <a:solidFill>
                  <a:srgbClr val="8BD9A9"/>
                </a:solidFill>
                <a:latin typeface="Courier New"/>
                <a:ea typeface="Courier New"/>
                <a:cs typeface="Courier New"/>
                <a:sym typeface="Courier New"/>
              </a:rPr>
              <a:t>'negative'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1,2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b="0" i="0" lang="en-US" sz="1000" u="none" cap="none" strike="noStrike">
                <a:solidFill>
                  <a:srgbClr val="F09AA3"/>
                </a:solidFill>
                <a:latin typeface="Courier New"/>
                <a:ea typeface="Courier New"/>
                <a:cs typeface="Courier New"/>
                <a:sym typeface="Courier New"/>
              </a:rPr>
              <a:t>DESC</a:t>
            </a:r>
            <a:r>
              <a:rPr b="0" i="0" lang="en-US" sz="1000" u="none" cap="none" strike="noStrike">
                <a:solidFill>
                  <a:srgbClr val="E8E8EE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Enrichment done right: idempotent &amp; modeled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5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3" name="Google Shape;97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5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Never pay for the same review twice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Each run selects reviews NOT IN (already enriched) LIMIT SAMPLE_N. Re-run all you like — only new rows cost money.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5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6" name="Google Shape;97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65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LLM's output is just another 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ZOMATO.AI.REVIEW_ENRICHED is declared as a dbt source; mart_review_insights joins it with the star schema like any other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5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9" name="Google Shape;97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65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“aha” of the whole 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AI folds cleanly into the medallion flow. No special AI infrastructure — a source, a model, a mart. That's the AI Data Engineer pattern.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000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RAG in three steps — chat with your reviews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9"/>
          <p:cNvSpPr/>
          <p:nvPr/>
        </p:nvSpPr>
        <p:spPr>
          <a:xfrm>
            <a:off x="502920" y="1417320"/>
            <a:ext cx="240792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9"/>
          <p:cNvSpPr/>
          <p:nvPr/>
        </p:nvSpPr>
        <p:spPr>
          <a:xfrm>
            <a:off x="145999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7" name="Google Shape;100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6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69"/>
          <p:cNvSpPr/>
          <p:nvPr/>
        </p:nvSpPr>
        <p:spPr>
          <a:xfrm>
            <a:off x="54864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1 · EMBED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9"/>
          <p:cNvSpPr/>
          <p:nvPr/>
        </p:nvSpPr>
        <p:spPr>
          <a:xfrm>
            <a:off x="58521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All reviews → vectors, once, cached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9"/>
          <p:cNvSpPr/>
          <p:nvPr/>
        </p:nvSpPr>
        <p:spPr>
          <a:xfrm>
            <a:off x="2892552" y="197510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9"/>
          <p:cNvSpPr/>
          <p:nvPr/>
        </p:nvSpPr>
        <p:spPr>
          <a:xfrm>
            <a:off x="3368040" y="1417320"/>
            <a:ext cx="240792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9"/>
          <p:cNvSpPr/>
          <p:nvPr/>
        </p:nvSpPr>
        <p:spPr>
          <a:xfrm>
            <a:off x="432511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3" name="Google Shape;1013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98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9"/>
          <p:cNvSpPr/>
          <p:nvPr/>
        </p:nvSpPr>
        <p:spPr>
          <a:xfrm>
            <a:off x="341376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2 · RETRIEVE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9"/>
          <p:cNvSpPr/>
          <p:nvPr/>
        </p:nvSpPr>
        <p:spPr>
          <a:xfrm>
            <a:off x="345033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Embed the question; find the most similar 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9"/>
          <p:cNvSpPr/>
          <p:nvPr/>
        </p:nvSpPr>
        <p:spPr>
          <a:xfrm>
            <a:off x="5757672" y="197510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9"/>
          <p:cNvSpPr/>
          <p:nvPr/>
        </p:nvSpPr>
        <p:spPr>
          <a:xfrm>
            <a:off x="6233160" y="1417320"/>
            <a:ext cx="2407920" cy="1463040"/>
          </a:xfrm>
          <a:prstGeom prst="roundRect">
            <a:avLst>
              <a:gd fmla="val 5000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9"/>
          <p:cNvSpPr/>
          <p:nvPr/>
        </p:nvSpPr>
        <p:spPr>
          <a:xfrm>
            <a:off x="719023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9" name="Google Shape;1019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10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69"/>
          <p:cNvSpPr/>
          <p:nvPr/>
        </p:nvSpPr>
        <p:spPr>
          <a:xfrm>
            <a:off x="627888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3 · GENERATE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9"/>
          <p:cNvSpPr/>
          <p:nvPr/>
        </p:nvSpPr>
        <p:spPr>
          <a:xfrm>
            <a:off x="631545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LLM answers using only those reviews as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69"/>
          <p:cNvSpPr/>
          <p:nvPr/>
        </p:nvSpPr>
        <p:spPr>
          <a:xfrm>
            <a:off x="502920" y="31729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3" name="Google Shape;1023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3101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69"/>
          <p:cNvSpPr/>
          <p:nvPr/>
        </p:nvSpPr>
        <p:spPr>
          <a:xfrm>
            <a:off x="1280160" y="3136392"/>
            <a:ext cx="736092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answer ships with its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app shows the reviews it used — you can verify every claim. That's what makes RAG trustworthy.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9"/>
          <p:cNvSpPr/>
          <p:nvPr/>
        </p:nvSpPr>
        <p:spPr>
          <a:xfrm>
            <a:off x="502920" y="40416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6" name="Google Shape;1026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4178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69"/>
          <p:cNvSpPr/>
          <p:nvPr/>
        </p:nvSpPr>
        <p:spPr>
          <a:xfrm>
            <a:off x="1280160" y="4005072"/>
            <a:ext cx="736092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And it solves the context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Retrieval fits only the relevant slice into the window — the limitation from 6.3, answered.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Text-to-SQL — chat with your warehouse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70"/>
          <p:cNvSpPr/>
          <p:nvPr/>
        </p:nvSpPr>
        <p:spPr>
          <a:xfrm>
            <a:off x="50292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70"/>
          <p:cNvSpPr/>
          <p:nvPr/>
        </p:nvSpPr>
        <p:spPr>
          <a:xfrm>
            <a:off x="113614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6" name="Google Shape;103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1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70"/>
          <p:cNvSpPr/>
          <p:nvPr/>
        </p:nvSpPr>
        <p:spPr>
          <a:xfrm>
            <a:off x="54864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English question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0"/>
          <p:cNvSpPr/>
          <p:nvPr/>
        </p:nvSpPr>
        <p:spPr>
          <a:xfrm>
            <a:off x="58521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“Which city cancels the most?”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0"/>
          <p:cNvSpPr/>
          <p:nvPr/>
        </p:nvSpPr>
        <p:spPr>
          <a:xfrm>
            <a:off x="224485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70"/>
          <p:cNvSpPr/>
          <p:nvPr/>
        </p:nvSpPr>
        <p:spPr>
          <a:xfrm>
            <a:off x="262890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DEDEE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70"/>
          <p:cNvSpPr/>
          <p:nvPr/>
        </p:nvSpPr>
        <p:spPr>
          <a:xfrm>
            <a:off x="326212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2" name="Google Shape;104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099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70"/>
          <p:cNvSpPr/>
          <p:nvPr/>
        </p:nvSpPr>
        <p:spPr>
          <a:xfrm>
            <a:off x="267462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LLM + schema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70"/>
          <p:cNvSpPr/>
          <p:nvPr/>
        </p:nvSpPr>
        <p:spPr>
          <a:xfrm>
            <a:off x="271119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prompt includes the marts' tables &amp; columns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70"/>
          <p:cNvSpPr/>
          <p:nvPr/>
        </p:nvSpPr>
        <p:spPr>
          <a:xfrm>
            <a:off x="437083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70"/>
          <p:cNvSpPr/>
          <p:nvPr/>
        </p:nvSpPr>
        <p:spPr>
          <a:xfrm>
            <a:off x="475488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0"/>
          <p:cNvSpPr/>
          <p:nvPr/>
        </p:nvSpPr>
        <p:spPr>
          <a:xfrm>
            <a:off x="538810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8" name="Google Shape;1048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697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0"/>
          <p:cNvSpPr/>
          <p:nvPr/>
        </p:nvSpPr>
        <p:spPr>
          <a:xfrm>
            <a:off x="480060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SQL runs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70"/>
          <p:cNvSpPr/>
          <p:nvPr/>
        </p:nvSpPr>
        <p:spPr>
          <a:xfrm>
            <a:off x="483717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generated SELECT executes on Snowflake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70"/>
          <p:cNvSpPr/>
          <p:nvPr/>
        </p:nvSpPr>
        <p:spPr>
          <a:xfrm>
            <a:off x="649681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70"/>
          <p:cNvSpPr/>
          <p:nvPr/>
        </p:nvSpPr>
        <p:spPr>
          <a:xfrm>
            <a:off x="6880860" y="1417320"/>
            <a:ext cx="17602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70"/>
          <p:cNvSpPr/>
          <p:nvPr/>
        </p:nvSpPr>
        <p:spPr>
          <a:xfrm>
            <a:off x="751408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4" name="Google Shape;1054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295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0"/>
          <p:cNvSpPr/>
          <p:nvPr/>
        </p:nvSpPr>
        <p:spPr>
          <a:xfrm>
            <a:off x="692658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Answer + 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0"/>
          <p:cNvSpPr/>
          <p:nvPr/>
        </p:nvSpPr>
        <p:spPr>
          <a:xfrm>
            <a:off x="696315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result shown with the query for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70"/>
          <p:cNvSpPr/>
          <p:nvPr/>
        </p:nvSpPr>
        <p:spPr>
          <a:xfrm>
            <a:off x="502920" y="3246120"/>
            <a:ext cx="8138160" cy="685800"/>
          </a:xfrm>
          <a:prstGeom prst="roundRect">
            <a:avLst>
              <a:gd fmla="val 9333" name="adj"/>
            </a:avLst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70"/>
          <p:cNvSpPr/>
          <p:nvPr/>
        </p:nvSpPr>
        <p:spPr>
          <a:xfrm>
            <a:off x="731520" y="324612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Schema-grounding: </a:t>
            </a:r>
            <a:r>
              <a:rPr b="0" i="0" lang="en-US" sz="1150" u="none" cap="none" strike="noStrike">
                <a:solidFill>
                  <a:srgbClr val="A31E29"/>
                </a:solidFill>
                <a:latin typeface="Arial"/>
                <a:ea typeface="Arial"/>
                <a:cs typeface="Arial"/>
                <a:sym typeface="Arial"/>
              </a:rPr>
              <a:t>the model writes correct SQL because it sees your real table and column names — no invented columns. Same grounding idea as RAG, applied to metadata.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0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headline demo: someone who's never written SQL asks the warehouse a question and gets a real answer.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Making text-to-SQL safe to run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71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7" name="Google Shape;106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71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Guardrail 1: SELECT-only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Before executing, verify the generated query is a read-only SELECT — reject DROP / DELETE / UPDATE / anything else. Code checks, not vibes.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1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0" name="Google Shape;107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1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Guardrail 2: a limited role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app connects as DBT_ROLE, not admin — even a malicious query couldn't do damage. Defense in depth.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71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3" name="Google Shape;1073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71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bugs were the best teachers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Real failures we hit: 2-part vs 3-part table names, and sentiment stored lowercase while the model guessed 'Negative'. Lesson: ground the model precisely or it improvises.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Putting the AI layer into production shape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72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72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3" name="Google Shape;108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2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Enrichment is an Airflow 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2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enrich_reviews runs between dbt_build_core and dbt_build_ai — scheduled, retried, idempotent like everything else.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2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72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8" name="Google Shape;108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72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RAG &amp; text-to-SQL are apps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2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Streamlit serving apps that sit on top of the warehouse — they read, they never load.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2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72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3" name="Google Shape;109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72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Cost control 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72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SAMPLE_N caps volume · cheap model · idempotent enrichment · embeddings cached, never recomputed.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72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fmla="val 380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72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8" name="Google Shape;1098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72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Secrets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OPENAI_API_KEY lives in an environment variable. Never in code, never in Git — same rule as the AWS keys.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AI vocabulary — one slide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73"/>
          <p:cNvSpPr/>
          <p:nvPr/>
        </p:nvSpPr>
        <p:spPr>
          <a:xfrm>
            <a:off x="502920" y="1280160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73"/>
          <p:cNvSpPr/>
          <p:nvPr/>
        </p:nvSpPr>
        <p:spPr>
          <a:xfrm>
            <a:off x="63093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model that predicts next tokens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73"/>
          <p:cNvSpPr/>
          <p:nvPr/>
        </p:nvSpPr>
        <p:spPr>
          <a:xfrm>
            <a:off x="3291840" y="1280160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73"/>
          <p:cNvSpPr/>
          <p:nvPr/>
        </p:nvSpPr>
        <p:spPr>
          <a:xfrm>
            <a:off x="341985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your instruction (system + user)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3"/>
          <p:cNvSpPr/>
          <p:nvPr/>
        </p:nvSpPr>
        <p:spPr>
          <a:xfrm>
            <a:off x="6080760" y="1280160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3"/>
          <p:cNvSpPr/>
          <p:nvPr/>
        </p:nvSpPr>
        <p:spPr>
          <a:xfrm>
            <a:off x="620877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≈ ¾ word; the unit you pay for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3"/>
          <p:cNvSpPr/>
          <p:nvPr/>
        </p:nvSpPr>
        <p:spPr>
          <a:xfrm>
            <a:off x="502920" y="1993392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73"/>
          <p:cNvSpPr/>
          <p:nvPr/>
        </p:nvSpPr>
        <p:spPr>
          <a:xfrm>
            <a:off x="63093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context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max tokens seen at once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3"/>
          <p:cNvSpPr/>
          <p:nvPr/>
        </p:nvSpPr>
        <p:spPr>
          <a:xfrm>
            <a:off x="3291840" y="1993392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3"/>
          <p:cNvSpPr/>
          <p:nvPr/>
        </p:nvSpPr>
        <p:spPr>
          <a:xfrm>
            <a:off x="341985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randomness dial; low = stable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73"/>
          <p:cNvSpPr/>
          <p:nvPr/>
        </p:nvSpPr>
        <p:spPr>
          <a:xfrm>
            <a:off x="6080760" y="1993392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73"/>
          <p:cNvSpPr/>
          <p:nvPr/>
        </p:nvSpPr>
        <p:spPr>
          <a:xfrm>
            <a:off x="620877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structured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force JSON, get columns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3"/>
          <p:cNvSpPr/>
          <p:nvPr/>
        </p:nvSpPr>
        <p:spPr>
          <a:xfrm>
            <a:off x="502920" y="2706624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73"/>
          <p:cNvSpPr/>
          <p:nvPr/>
        </p:nvSpPr>
        <p:spPr>
          <a:xfrm>
            <a:off x="63093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text → vector of meaning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3"/>
          <p:cNvSpPr/>
          <p:nvPr/>
        </p:nvSpPr>
        <p:spPr>
          <a:xfrm>
            <a:off x="3291840" y="2706624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73"/>
          <p:cNvSpPr/>
          <p:nvPr/>
        </p:nvSpPr>
        <p:spPr>
          <a:xfrm>
            <a:off x="341985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list of numbers = a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73"/>
          <p:cNvSpPr/>
          <p:nvPr/>
        </p:nvSpPr>
        <p:spPr>
          <a:xfrm>
            <a:off x="6080760" y="2706624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73"/>
          <p:cNvSpPr/>
          <p:nvPr/>
        </p:nvSpPr>
        <p:spPr>
          <a:xfrm>
            <a:off x="620877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closeness of two vectors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73"/>
          <p:cNvSpPr/>
          <p:nvPr/>
        </p:nvSpPr>
        <p:spPr>
          <a:xfrm>
            <a:off x="502920" y="3419856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73"/>
          <p:cNvSpPr/>
          <p:nvPr/>
        </p:nvSpPr>
        <p:spPr>
          <a:xfrm>
            <a:off x="63093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vector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searchable home for vectors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73"/>
          <p:cNvSpPr/>
          <p:nvPr/>
        </p:nvSpPr>
        <p:spPr>
          <a:xfrm>
            <a:off x="3291840" y="3419856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73"/>
          <p:cNvSpPr/>
          <p:nvPr/>
        </p:nvSpPr>
        <p:spPr>
          <a:xfrm>
            <a:off x="341985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retrieve, then generate grounded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73"/>
          <p:cNvSpPr/>
          <p:nvPr/>
        </p:nvSpPr>
        <p:spPr>
          <a:xfrm>
            <a:off x="6080760" y="3419856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73"/>
          <p:cNvSpPr/>
          <p:nvPr/>
        </p:nvSpPr>
        <p:spPr>
          <a:xfrm>
            <a:off x="620877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grounding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answer only from given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73"/>
          <p:cNvSpPr/>
          <p:nvPr/>
        </p:nvSpPr>
        <p:spPr>
          <a:xfrm>
            <a:off x="502920" y="4133088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73"/>
          <p:cNvSpPr/>
          <p:nvPr/>
        </p:nvSpPr>
        <p:spPr>
          <a:xfrm>
            <a:off x="63093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confident made-up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73"/>
          <p:cNvSpPr/>
          <p:nvPr/>
        </p:nvSpPr>
        <p:spPr>
          <a:xfrm>
            <a:off x="3291840" y="4133088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73"/>
          <p:cNvSpPr/>
          <p:nvPr/>
        </p:nvSpPr>
        <p:spPr>
          <a:xfrm>
            <a:off x="341985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schema-grounding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show real tables → real 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73"/>
          <p:cNvSpPr/>
          <p:nvPr/>
        </p:nvSpPr>
        <p:spPr>
          <a:xfrm>
            <a:off x="6080760" y="4133088"/>
            <a:ext cx="2651760" cy="621792"/>
          </a:xfrm>
          <a:prstGeom prst="roundRect">
            <a:avLst>
              <a:gd fmla="val 8824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73"/>
          <p:cNvSpPr/>
          <p:nvPr/>
        </p:nvSpPr>
        <p:spPr>
          <a:xfrm>
            <a:off x="620877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23744"/>
                </a:solidFill>
                <a:latin typeface="Arial"/>
                <a:ea typeface="Arial"/>
                <a:cs typeface="Arial"/>
                <a:sym typeface="Arial"/>
              </a:rPr>
              <a:t>idempotency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re-runs never double-pay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4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lang="en-US" sz="21000">
                <a:solidFill>
                  <a:srgbClr val="C22530"/>
                </a:solidFill>
              </a:rPr>
              <a:t>6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74"/>
          <p:cNvSpPr/>
          <p:nvPr/>
        </p:nvSpPr>
        <p:spPr>
          <a:xfrm>
            <a:off x="640080" y="232717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Serving &amp; Dashboards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7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questions the Gold layer answers in one SELECT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5"/>
          <p:cNvSpPr/>
          <p:nvPr/>
        </p:nvSpPr>
        <p:spPr>
          <a:xfrm>
            <a:off x="502920" y="1280160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5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2" name="Google Shape;115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75"/>
          <p:cNvSpPr/>
          <p:nvPr/>
        </p:nvSpPr>
        <p:spPr>
          <a:xfrm>
            <a:off x="1280160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GMV &amp; AOV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75"/>
          <p:cNvSpPr/>
          <p:nvPr/>
        </p:nvSpPr>
        <p:spPr>
          <a:xfrm>
            <a:off x="722376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Gross merchandise value and average order value — by day, city, cuisine.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75"/>
          <p:cNvSpPr/>
          <p:nvPr/>
        </p:nvSpPr>
        <p:spPr>
          <a:xfrm>
            <a:off x="3282696" y="1280160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75"/>
          <p:cNvSpPr/>
          <p:nvPr/>
        </p:nvSpPr>
        <p:spPr>
          <a:xfrm>
            <a:off x="3483864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7" name="Google Shape;115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75"/>
          <p:cNvSpPr/>
          <p:nvPr/>
        </p:nvSpPr>
        <p:spPr>
          <a:xfrm>
            <a:off x="4059936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Cancel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75"/>
          <p:cNvSpPr/>
          <p:nvPr/>
        </p:nvSpPr>
        <p:spPr>
          <a:xfrm>
            <a:off x="3502152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Where and when orders die — by city, hour and restaurant.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75"/>
          <p:cNvSpPr/>
          <p:nvPr/>
        </p:nvSpPr>
        <p:spPr>
          <a:xfrm>
            <a:off x="6062472" y="1280160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75"/>
          <p:cNvSpPr/>
          <p:nvPr/>
        </p:nvSpPr>
        <p:spPr>
          <a:xfrm>
            <a:off x="6263640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2" name="Google Shape;1162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336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5"/>
          <p:cNvSpPr/>
          <p:nvPr/>
        </p:nvSpPr>
        <p:spPr>
          <a:xfrm>
            <a:off x="6839712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Delivery SLA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75"/>
          <p:cNvSpPr/>
          <p:nvPr/>
        </p:nvSpPr>
        <p:spPr>
          <a:xfrm>
            <a:off x="6281928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Median and p90 delivery time — honest numbers, not averages.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75"/>
          <p:cNvSpPr/>
          <p:nvPr/>
        </p:nvSpPr>
        <p:spPr>
          <a:xfrm>
            <a:off x="502920" y="3186684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75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7" name="Google Shape;1167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75"/>
          <p:cNvSpPr/>
          <p:nvPr/>
        </p:nvSpPr>
        <p:spPr>
          <a:xfrm>
            <a:off x="1280160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Cohorts &amp; 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75"/>
          <p:cNvSpPr/>
          <p:nvPr/>
        </p:nvSpPr>
        <p:spPr>
          <a:xfrm>
            <a:off x="722376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Which signup months keep ordering — the growth team's favorite chart.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75"/>
          <p:cNvSpPr/>
          <p:nvPr/>
        </p:nvSpPr>
        <p:spPr>
          <a:xfrm>
            <a:off x="3282696" y="3186684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75"/>
          <p:cNvSpPr/>
          <p:nvPr/>
        </p:nvSpPr>
        <p:spPr>
          <a:xfrm>
            <a:off x="3483864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2" name="Google Shape;1172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3592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75"/>
          <p:cNvSpPr/>
          <p:nvPr/>
        </p:nvSpPr>
        <p:spPr>
          <a:xfrm>
            <a:off x="4059936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Sentiment × topic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75"/>
          <p:cNvSpPr/>
          <p:nvPr/>
        </p:nvSpPr>
        <p:spPr>
          <a:xfrm>
            <a:off x="3502152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The AI mart: what customers complain about, per city — now in SQL.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75"/>
          <p:cNvSpPr/>
          <p:nvPr/>
        </p:nvSpPr>
        <p:spPr>
          <a:xfrm>
            <a:off x="6062472" y="3186684"/>
            <a:ext cx="2578608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75"/>
          <p:cNvSpPr/>
          <p:nvPr/>
        </p:nvSpPr>
        <p:spPr>
          <a:xfrm>
            <a:off x="6263640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7" name="Google Shape;1177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3368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75"/>
          <p:cNvSpPr/>
          <p:nvPr/>
        </p:nvSpPr>
        <p:spPr>
          <a:xfrm>
            <a:off x="6839712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Restaurant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75"/>
          <p:cNvSpPr/>
          <p:nvPr/>
        </p:nvSpPr>
        <p:spPr>
          <a:xfrm>
            <a:off x="6281928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Ratings, review volume and revenue joined in one view.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Streamlit — dashboards in pure Python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76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7" name="Google Shape;118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76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 dashboard in an afternoon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Streamlit turns a Python script into a web app: st.metric for KPIs, st.line_chart for trends — all reading the Gold marts directly.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76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0" name="Google Shape;119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76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Thin serving, thick warehouse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All heavy lifting stayed in dbt models; the dashboard just SELECTs from marts. Serving layers should be boring.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76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3" name="Google Shape;1193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76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The AI apps are serving too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RAG chat and text-to-SQL run as Streamlit apps beside the dashboard — three doors into the same warehouse.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3744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77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C2253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640080" y="86868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D7DA"/>
                </a:solidFill>
                <a:latin typeface="Arial"/>
                <a:ea typeface="Arial"/>
                <a:cs typeface="Arial"/>
                <a:sym typeface="Arial"/>
              </a:rPr>
              <a:t>MODULE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77"/>
          <p:cNvSpPr/>
          <p:nvPr/>
        </p:nvSpPr>
        <p:spPr>
          <a:xfrm>
            <a:off x="640080" y="118872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Wrap-up &amp; Production Concepts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77"/>
          <p:cNvSpPr/>
          <p:nvPr/>
        </p:nvSpPr>
        <p:spPr>
          <a:xfrm>
            <a:off x="658368" y="2331720"/>
            <a:ext cx="49377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Cost management &amp; teardown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Secrets hygiene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GitHub &amp; your portfolio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EDEE"/>
                </a:solidFill>
                <a:latin typeface="Arial"/>
                <a:ea typeface="Arial"/>
                <a:cs typeface="Arial"/>
                <a:sym typeface="Arial"/>
              </a:rPr>
              <a:t>What's next: the streaming 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Cost management &amp; teardown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78"/>
          <p:cNvSpPr/>
          <p:nvPr/>
        </p:nvSpPr>
        <p:spPr>
          <a:xfrm>
            <a:off x="502920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78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2" name="Google Shape;121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78"/>
          <p:cNvSpPr/>
          <p:nvPr/>
        </p:nvSpPr>
        <p:spPr>
          <a:xfrm>
            <a:off x="1280160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Auto-suspend everything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78"/>
          <p:cNvSpPr/>
          <p:nvPr/>
        </p:nvSpPr>
        <p:spPr>
          <a:xfrm>
            <a:off x="722376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Snowflake warehouses suspend after 60s idle — the single biggest cost saver in the project.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8"/>
          <p:cNvSpPr/>
          <p:nvPr/>
        </p:nvSpPr>
        <p:spPr>
          <a:xfrm>
            <a:off x="4672584" y="1280160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8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7" name="Google Shape;1217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78"/>
          <p:cNvSpPr/>
          <p:nvPr/>
        </p:nvSpPr>
        <p:spPr>
          <a:xfrm>
            <a:off x="5449824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Tear down when 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78"/>
          <p:cNvSpPr/>
          <p:nvPr/>
        </p:nvSpPr>
        <p:spPr>
          <a:xfrm>
            <a:off x="4892040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Drop unused databases and stages, empty the S3 bucket or add lifecycle rules.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502920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8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2" name="Google Shape;1222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8"/>
          <p:cNvSpPr/>
          <p:nvPr/>
        </p:nvSpPr>
        <p:spPr>
          <a:xfrm>
            <a:off x="1280160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Stop the containers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78"/>
          <p:cNvSpPr/>
          <p:nvPr/>
        </p:nvSpPr>
        <p:spPr>
          <a:xfrm>
            <a:off x="722376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docker compose down when not developing — Airflow idling all week eats laptop and battery for nothing.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78"/>
          <p:cNvSpPr/>
          <p:nvPr/>
        </p:nvSpPr>
        <p:spPr>
          <a:xfrm>
            <a:off x="4672584" y="3186684"/>
            <a:ext cx="3968496" cy="1705356"/>
          </a:xfrm>
          <a:prstGeom prst="roundRect">
            <a:avLst>
              <a:gd fmla="val 3753" name="adj"/>
            </a:avLst>
          </a:prstGeom>
          <a:solidFill>
            <a:srgbClr val="F7F7F9"/>
          </a:solidFill>
          <a:ln cap="flat" cmpd="sng" w="9525">
            <a:solidFill>
              <a:srgbClr val="E9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78"/>
          <p:cNvSpPr/>
          <p:nvPr/>
        </p:nvSpPr>
        <p:spPr>
          <a:xfrm>
            <a:off x="4873752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7" name="Google Shape;1227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78"/>
          <p:cNvSpPr/>
          <p:nvPr/>
        </p:nvSpPr>
        <p:spPr>
          <a:xfrm>
            <a:off x="5449824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Watch the 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78"/>
          <p:cNvSpPr/>
          <p:nvPr/>
        </p:nvSpPr>
        <p:spPr>
          <a:xfrm>
            <a:off x="4892040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AWS billing alerts + OpenAI usage dashboard. Surprises are a choice; alerts are free.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7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Secrets hygiene &amp; the portfolio payoff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79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7" name="Google Shape;123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79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Environment variables, always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AWS keys, Snowflake password, OPENAI_API_KEY — all read from env vars or .env files that are in .gitignore. One leaked key can cost real money within hours.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79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0" name="Google Shape;1240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79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Put it on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Clean repo, clear README with the architecture diagram, setup steps that actually work. This project is portfolio gold — it shows breadth few juniors have.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79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3" name="Google Shape;124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79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E"/>
                </a:solidFill>
                <a:latin typeface="Arial"/>
                <a:ea typeface="Arial"/>
                <a:cs typeface="Arial"/>
                <a:sym typeface="Arial"/>
              </a:rPr>
              <a:t>Talk about it like an engineer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5F6A"/>
                </a:solidFill>
                <a:latin typeface="Arial"/>
                <a:ea typeface="Arial"/>
                <a:cs typeface="Arial"/>
                <a:sym typeface="Arial"/>
              </a:rPr>
              <a:t>“I built an ELT pipeline with an LLM enrichment stage, tested with dbt, orchestrated with Airflow” — every word of that is interview currency.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2026-07-07T12:22:25Z</dcterms:created>
  <dc:creator>Darshil</dc:creator>
</cp:coreProperties>
</file>